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86" r:id="rId5"/>
    <p:sldId id="287" r:id="rId6"/>
    <p:sldId id="297" r:id="rId7"/>
    <p:sldId id="298" r:id="rId8"/>
    <p:sldId id="278" r:id="rId9"/>
    <p:sldId id="269" r:id="rId10"/>
    <p:sldId id="282" r:id="rId11"/>
    <p:sldId id="283" r:id="rId12"/>
    <p:sldId id="271" r:id="rId13"/>
    <p:sldId id="272" r:id="rId14"/>
    <p:sldId id="273" r:id="rId15"/>
    <p:sldId id="262" r:id="rId16"/>
    <p:sldId id="261" r:id="rId17"/>
    <p:sldId id="264" r:id="rId18"/>
    <p:sldId id="265" r:id="rId19"/>
    <p:sldId id="266" r:id="rId20"/>
    <p:sldId id="268" r:id="rId21"/>
    <p:sldId id="267" r:id="rId22"/>
    <p:sldId id="274" r:id="rId23"/>
    <p:sldId id="276" r:id="rId24"/>
    <p:sldId id="275" r:id="rId25"/>
    <p:sldId id="277" r:id="rId26"/>
    <p:sldId id="263" r:id="rId27"/>
    <p:sldId id="259" r:id="rId28"/>
    <p:sldId id="279" r:id="rId29"/>
    <p:sldId id="284" r:id="rId30"/>
    <p:sldId id="285" r:id="rId31"/>
    <p:sldId id="280" r:id="rId32"/>
    <p:sldId id="296" r:id="rId33"/>
    <p:sldId id="281" r:id="rId34"/>
    <p:sldId id="288" r:id="rId35"/>
    <p:sldId id="289" r:id="rId36"/>
    <p:sldId id="290" r:id="rId37"/>
    <p:sldId id="294" r:id="rId38"/>
    <p:sldId id="291" r:id="rId39"/>
    <p:sldId id="292" r:id="rId4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1" id="{0F29ED80-2E59-4B93-A8BB-B907811B6A74}">
          <p14:sldIdLst>
            <p14:sldId id="256"/>
            <p14:sldId id="257"/>
          </p14:sldIdLst>
        </p14:section>
        <p14:section name="專有名詞理解" id="{81CCE23E-E8D4-412F-BDBE-30E111BCC863}">
          <p14:sldIdLst/>
        </p14:section>
        <p14:section name="...分類" id="{1BA50F4F-C187-4385-993B-6AA9BB9F55A7}">
          <p14:sldIdLst>
            <p14:sldId id="260"/>
            <p14:sldId id="286"/>
            <p14:sldId id="287"/>
          </p14:sldIdLst>
        </p14:section>
        <p14:section name="Graph" id="{1D00E6A4-E646-4F1A-B367-C7F391981886}">
          <p14:sldIdLst>
            <p14:sldId id="297"/>
            <p14:sldId id="298"/>
          </p14:sldIdLst>
        </p14:section>
        <p14:section name="...流程" id="{830AFF0C-F50E-463D-8EBA-7BC76EDE832B}">
          <p14:sldIdLst>
            <p14:sldId id="278"/>
          </p14:sldIdLst>
        </p14:section>
        <p14:section name="...Sampling rate" id="{5B034546-B8AC-4852-A960-835F62ECE0FB}">
          <p14:sldIdLst>
            <p14:sldId id="269"/>
            <p14:sldId id="282"/>
            <p14:sldId id="283"/>
          </p14:sldIdLst>
        </p14:section>
        <p14:section name="...bit depth" id="{30C8E84D-A133-4469-A67A-310CFA92BB33}">
          <p14:sldIdLst>
            <p14:sldId id="271"/>
          </p14:sldIdLst>
        </p14:section>
        <p14:section name="...channel" id="{E74D695F-9123-447F-B1D3-40F00B39C0FD}">
          <p14:sldIdLst>
            <p14:sldId id="272"/>
          </p14:sldIdLst>
        </p14:section>
        <p14:section name="...wav format" id="{201F469B-282C-45E5-9C49-C18825080FE6}">
          <p14:sldIdLst>
            <p14:sldId id="273"/>
          </p14:sldIdLst>
        </p14:section>
        <p14:section name="...Spectrum" id="{69192DAC-FE7A-4BDF-AE4F-EE7F0E20B30C}">
          <p14:sldIdLst>
            <p14:sldId id="262"/>
          </p14:sldIdLst>
        </p14:section>
        <p14:section name="...STFT" id="{27DDBCE7-B724-4084-9FA8-E35CF7E61DBD}">
          <p14:sldIdLst>
            <p14:sldId id="261"/>
          </p14:sldIdLst>
        </p14:section>
        <p14:section name="...Magnitude" id="{91742162-521A-46BC-BB49-799CACE1D4D0}">
          <p14:sldIdLst>
            <p14:sldId id="264"/>
          </p14:sldIdLst>
        </p14:section>
        <p14:section name="...Phase" id="{97270860-EFE7-4731-9F4B-CE0CFC6BE5AF}">
          <p14:sldIdLst>
            <p14:sldId id="265"/>
          </p14:sldIdLst>
        </p14:section>
        <p14:section name="...Filter" id="{A441EFD7-37C6-41E0-8965-F42099A82790}">
          <p14:sldIdLst>
            <p14:sldId id="266"/>
          </p14:sldIdLst>
        </p14:section>
        <p14:section name="...FIR" id="{E53DE2E2-0189-4C1F-8D0E-86620B8C77F0}">
          <p14:sldIdLst>
            <p14:sldId id="268"/>
          </p14:sldIdLst>
        </p14:section>
        <p14:section name="...IIR" id="{5D526DB2-E964-4D8F-9D8D-AE609FDDFA59}">
          <p14:sldIdLst>
            <p14:sldId id="267"/>
          </p14:sldIdLst>
        </p14:section>
        <p14:section name="...RIR" id="{CA0FC979-92EE-4E67-87AC-D984DB8EAA7A}">
          <p14:sldIdLst>
            <p14:sldId id="274"/>
          </p14:sldIdLst>
        </p14:section>
        <p14:section name="...SNR" id="{BBFF0A14-2D51-4FD3-A4E1-677C12627AB7}">
          <p14:sldIdLst>
            <p14:sldId id="276"/>
          </p14:sldIdLst>
        </p14:section>
        <p14:section name="...F0 基頻" id="{FC5FB6E1-803F-4C13-9CF4-F7D570B7409C}">
          <p14:sldIdLst>
            <p14:sldId id="275"/>
          </p14:sldIdLst>
        </p14:section>
        <p14:section name="...母音/ 子音" id="{3B7FC4C0-1993-4B48-A315-C1F50481D3A1}">
          <p14:sldIdLst>
            <p14:sldId id="277"/>
          </p14:sldIdLst>
        </p14:section>
        <p14:section name="...MFCC" id="{5D3618FB-488C-4315-8C1D-3C4670CA4678}">
          <p14:sldIdLst>
            <p14:sldId id="263"/>
          </p14:sldIdLst>
        </p14:section>
        <p14:section name="寫 python tool" id="{B230412A-46E1-42EF-9A95-44E447F1C6BD}">
          <p14:sldIdLst>
            <p14:sldId id="259"/>
          </p14:sldIdLst>
        </p14:section>
        <p14:section name="...構思" id="{F8ED0FF2-8E4F-45F1-9E93-37DE5DEC9EF7}">
          <p14:sldIdLst>
            <p14:sldId id="279"/>
          </p14:sldIdLst>
        </p14:section>
        <p14:section name=".....compaire" id="{7DDB1CDC-2D8D-456F-A2F0-FA1AA002268A}">
          <p14:sldIdLst>
            <p14:sldId id="284"/>
          </p14:sldIdLst>
        </p14:section>
        <p14:section name=".....todo" id="{544E890D-D6E3-4956-AA6D-7C629478CF28}">
          <p14:sldIdLst>
            <p14:sldId id="285"/>
          </p14:sldIdLst>
        </p14:section>
        <p14:section name="...1." id="{10689F5C-ECDD-42B3-9AC1-6B5673F21225}">
          <p14:sldIdLst>
            <p14:sldId id="280"/>
            <p14:sldId id="296"/>
          </p14:sldIdLst>
        </p14:section>
        <p14:section name="...2." id="{B579DD1D-E5D0-478C-A586-847F5D3C9FF4}">
          <p14:sldIdLst>
            <p14:sldId id="281"/>
          </p14:sldIdLst>
        </p14:section>
        <p14:section name=".....run" id="{58D8D194-50C4-47F2-B90A-63DD2841261A}">
          <p14:sldIdLst>
            <p14:sldId id="288"/>
          </p14:sldIdLst>
        </p14:section>
        <p14:section name=".....check" id="{A34D51F1-D6E0-4029-BFE2-2EEB2F08002F}">
          <p14:sldIdLst>
            <p14:sldId id="289"/>
            <p14:sldId id="290"/>
            <p14:sldId id="294"/>
          </p14:sldIdLst>
        </p14:section>
        <p14:section name=".....Learn" id="{FD5A33BD-5558-48CA-B832-171EA3428A80}">
          <p14:sldIdLst>
            <p14:sldId id="291"/>
            <p14:sldId id="292"/>
          </p14:sldIdLst>
        </p14:section>
        <p14:section name=".....package" id="{C5A2E1E5-B445-478F-A005-762C1D9D16E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E2F0D9"/>
    <a:srgbClr val="FBE5D6"/>
    <a:srgbClr val="EEF5FB"/>
    <a:srgbClr val="DEEBF7"/>
    <a:srgbClr val="FF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23" autoAdjust="0"/>
    <p:restoredTop sz="94660"/>
  </p:normalViewPr>
  <p:slideViewPr>
    <p:cSldViewPr snapToGrid="0">
      <p:cViewPr>
        <p:scale>
          <a:sx n="80" d="100"/>
          <a:sy n="80" d="100"/>
        </p:scale>
        <p:origin x="-108" y="-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0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299D-7D38-4CD9-A4FA-3480CD8B6A6F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F1D-8628-44E7-B7C1-6254826B4C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3700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299D-7D38-4CD9-A4FA-3480CD8B6A6F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F1D-8628-44E7-B7C1-6254826B4C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280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299D-7D38-4CD9-A4FA-3480CD8B6A6F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F1D-8628-44E7-B7C1-6254826B4C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07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299D-7D38-4CD9-A4FA-3480CD8B6A6F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F1D-8628-44E7-B7C1-6254826B4C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9466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299D-7D38-4CD9-A4FA-3480CD8B6A6F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F1D-8628-44E7-B7C1-6254826B4C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58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299D-7D38-4CD9-A4FA-3480CD8B6A6F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F1D-8628-44E7-B7C1-6254826B4C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42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299D-7D38-4CD9-A4FA-3480CD8B6A6F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F1D-8628-44E7-B7C1-6254826B4C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961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299D-7D38-4CD9-A4FA-3480CD8B6A6F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F1D-8628-44E7-B7C1-6254826B4C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2409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299D-7D38-4CD9-A4FA-3480CD8B6A6F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F1D-8628-44E7-B7C1-6254826B4C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6529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299D-7D38-4CD9-A4FA-3480CD8B6A6F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F1D-8628-44E7-B7C1-6254826B4C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6840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299D-7D38-4CD9-A4FA-3480CD8B6A6F}" type="datetimeFigureOut">
              <a:rPr lang="zh-TW" altLang="en-US" smtClean="0"/>
              <a:t>2026/9/2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4F1D-8628-44E7-B7C1-6254826B4C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888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微軟正黑體" panose="020B0604030504040204" pitchFamily="34" charset="-120"/>
              </a:defRPr>
            </a:lvl1pPr>
          </a:lstStyle>
          <a:p>
            <a:fld id="{B05D299D-7D38-4CD9-A4FA-3480CD8B6A6F}" type="datetimeFigureOut">
              <a:rPr lang="zh-TW" altLang="en-US" smtClean="0"/>
              <a:pPr/>
              <a:t>2026/9/2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軟正黑體" panose="020B0604030504040204" pitchFamily="34" charset="-120"/>
              </a:defRPr>
            </a:lvl1pPr>
          </a:lstStyle>
          <a:p>
            <a:fld id="{7D0B4F1D-8628-44E7-B7C1-6254826B4C9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633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25.xml"/><Relationship Id="rId18" Type="http://schemas.openxmlformats.org/officeDocument/2006/relationships/slide" Target="slide3.xml"/><Relationship Id="rId3" Type="http://schemas.openxmlformats.org/officeDocument/2006/relationships/slide" Target="slide15.xml"/><Relationship Id="rId7" Type="http://schemas.openxmlformats.org/officeDocument/2006/relationships/slide" Target="slide17.xml"/><Relationship Id="rId12" Type="http://schemas.openxmlformats.org/officeDocument/2006/relationships/slide" Target="slide20.xml"/><Relationship Id="rId17" Type="http://schemas.openxmlformats.org/officeDocument/2006/relationships/slide" Target="slide23.xml"/><Relationship Id="rId2" Type="http://schemas.openxmlformats.org/officeDocument/2006/relationships/slide" Target="slide9.xml"/><Relationship Id="rId16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11" Type="http://schemas.openxmlformats.org/officeDocument/2006/relationships/slide" Target="slide24.xml"/><Relationship Id="rId5" Type="http://schemas.openxmlformats.org/officeDocument/2006/relationships/slide" Target="slide16.xml"/><Relationship Id="rId15" Type="http://schemas.openxmlformats.org/officeDocument/2006/relationships/slide" Target="slide26.xml"/><Relationship Id="rId10" Type="http://schemas.openxmlformats.org/officeDocument/2006/relationships/slide" Target="slide19.xml"/><Relationship Id="rId4" Type="http://schemas.openxmlformats.org/officeDocument/2006/relationships/slide" Target="slide12.xml"/><Relationship Id="rId9" Type="http://schemas.openxmlformats.org/officeDocument/2006/relationships/slide" Target="slide18.xml"/><Relationship Id="rId14" Type="http://schemas.openxmlformats.org/officeDocument/2006/relationships/slide" Target="slide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16.xml"/><Relationship Id="rId3" Type="http://schemas.openxmlformats.org/officeDocument/2006/relationships/slide" Target="slide25.xml"/><Relationship Id="rId7" Type="http://schemas.openxmlformats.org/officeDocument/2006/relationships/slide" Target="slide12.xml"/><Relationship Id="rId12" Type="http://schemas.openxmlformats.org/officeDocument/2006/relationships/slide" Target="slide20.xml"/><Relationship Id="rId17" Type="http://schemas.openxmlformats.org/officeDocument/2006/relationships/slide" Target="slide26.xml"/><Relationship Id="rId2" Type="http://schemas.openxmlformats.org/officeDocument/2006/relationships/slide" Target="slide24.xml"/><Relationship Id="rId16" Type="http://schemas.openxmlformats.org/officeDocument/2006/relationships/slide" Target="slide1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slide" Target="slide21.xml"/><Relationship Id="rId5" Type="http://schemas.openxmlformats.org/officeDocument/2006/relationships/slide" Target="slide23.xml"/><Relationship Id="rId15" Type="http://schemas.openxmlformats.org/officeDocument/2006/relationships/slide" Target="slide17.xml"/><Relationship Id="rId10" Type="http://schemas.openxmlformats.org/officeDocument/2006/relationships/slide" Target="slide19.xml"/><Relationship Id="rId4" Type="http://schemas.openxmlformats.org/officeDocument/2006/relationships/slide" Target="slide22.xml"/><Relationship Id="rId9" Type="http://schemas.openxmlformats.org/officeDocument/2006/relationships/slide" Target="slide14.xml"/><Relationship Id="rId14" Type="http://schemas.openxmlformats.org/officeDocument/2006/relationships/slide" Target="slide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0.xml"/><Relationship Id="rId4" Type="http://schemas.openxmlformats.org/officeDocument/2006/relationships/slide" Target="slide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TW" b="1" dirty="0"/>
              <a:t>Week 1 note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altLang="zh-TW" dirty="0" err="1"/>
              <a:t>amy.cheng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913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To do list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 action="ppaction://hlinksldjump"/>
              </a:rPr>
              <a:t>專有名詞理解</a:t>
            </a:r>
            <a:endParaRPr lang="en-US" altLang="zh-TW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 action="ppaction://hlinksldjump"/>
              </a:rPr>
              <a:t>作業 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 action="ppaction://hlinksldjump"/>
              </a:rPr>
              <a:t>: 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 action="ppaction://hlinksldjump"/>
              </a:rPr>
              <a:t>寫 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 action="ppaction://hlinksldjump"/>
              </a:rPr>
              <a:t>python tool</a:t>
            </a:r>
            <a:endParaRPr lang="zh-TW" altLang="en-US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464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838200" y="44538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專有名詞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___</a:t>
            </a:r>
            <a:r>
              <a:rPr lang="zh-TW" altLang="en-US" dirty="0">
                <a:latin typeface="微軟正黑體" panose="020B0604030504040204" pitchFamily="34" charset="-120"/>
              </a:rPr>
              <a:t>分類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458796"/>
              </p:ext>
            </p:extLst>
          </p:nvPr>
        </p:nvGraphicFramePr>
        <p:xfrm>
          <a:off x="336885" y="1631712"/>
          <a:ext cx="1151823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47778324"/>
                    </a:ext>
                  </a:extLst>
                </a:gridCol>
                <a:gridCol w="2339157">
                  <a:extLst>
                    <a:ext uri="{9D8B030D-6E8A-4147-A177-3AD203B41FA5}">
                      <a16:colId xmlns:a16="http://schemas.microsoft.com/office/drawing/2014/main" val="889769157"/>
                    </a:ext>
                  </a:extLst>
                </a:gridCol>
                <a:gridCol w="1671579">
                  <a:extLst>
                    <a:ext uri="{9D8B030D-6E8A-4147-A177-3AD203B41FA5}">
                      <a16:colId xmlns:a16="http://schemas.microsoft.com/office/drawing/2014/main" val="1515056271"/>
                    </a:ext>
                  </a:extLst>
                </a:gridCol>
                <a:gridCol w="411366">
                  <a:extLst>
                    <a:ext uri="{9D8B030D-6E8A-4147-A177-3AD203B41FA5}">
                      <a16:colId xmlns:a16="http://schemas.microsoft.com/office/drawing/2014/main" val="615127368"/>
                    </a:ext>
                  </a:extLst>
                </a:gridCol>
                <a:gridCol w="1288888">
                  <a:extLst>
                    <a:ext uri="{9D8B030D-6E8A-4147-A177-3AD203B41FA5}">
                      <a16:colId xmlns:a16="http://schemas.microsoft.com/office/drawing/2014/main" val="1722845957"/>
                    </a:ext>
                  </a:extLst>
                </a:gridCol>
                <a:gridCol w="2378038">
                  <a:extLst>
                    <a:ext uri="{9D8B030D-6E8A-4147-A177-3AD203B41FA5}">
                      <a16:colId xmlns:a16="http://schemas.microsoft.com/office/drawing/2014/main" val="17862764"/>
                    </a:ext>
                  </a:extLst>
                </a:gridCol>
                <a:gridCol w="1905203">
                  <a:extLst>
                    <a:ext uri="{9D8B030D-6E8A-4147-A177-3AD203B41FA5}">
                      <a16:colId xmlns:a16="http://schemas.microsoft.com/office/drawing/2014/main" val="244058015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數位音訊基礎格式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(Digital Audio Basics)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訊號處理與時頻分析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(Signal Processing &amp; Frequency Domain)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632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2" action="ppaction://hlinksldjump"/>
                        </a:rPr>
                        <a:t>Sampling rate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ea typeface="微軟正黑體" panose="020B0604030504040204" pitchFamily="34" charset="-120"/>
                        </a:rPr>
                        <a:t>SR</a:t>
                      </a:r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取樣率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3" action="ppaction://hlinksldjump"/>
                        </a:rPr>
                        <a:t>Spectrum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頻譜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388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4" action="ppaction://hlinksldjump"/>
                        </a:rPr>
                        <a:t>bit depth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位元深度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5" action="ppaction://hlinksldjump"/>
                        </a:rPr>
                        <a:t>STFT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ea typeface="微軟正黑體" panose="020B0604030504040204" pitchFamily="34" charset="-120"/>
                        </a:rPr>
                        <a:t>Short-Time Fourier Transform, </a:t>
                      </a:r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短時距傅立葉變換</a:t>
                      </a:r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004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6" action="ppaction://hlinksldjump"/>
                        </a:rPr>
                        <a:t>Channel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聲道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7" action="ppaction://hlinksldjump"/>
                        </a:rPr>
                        <a:t>Magnitude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振幅 </a:t>
                      </a:r>
                      <a:r>
                        <a:rPr lang="en-US" altLang="zh-TW" sz="1400" dirty="0">
                          <a:ea typeface="微軟正黑體" panose="020B0604030504040204" pitchFamily="34" charset="-120"/>
                        </a:rPr>
                        <a:t>/ </a:t>
                      </a:r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大小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614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8" action="ppaction://hlinksldjump"/>
                        </a:rPr>
                        <a:t>wav format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ea typeface="微軟正黑體" panose="020B0604030504040204" pitchFamily="34" charset="-120"/>
                        </a:rPr>
                        <a:t>Waveform Audio File Format</a:t>
                      </a:r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ea typeface="微軟正黑體" panose="020B0604030504040204" pitchFamily="34" charset="-120"/>
                        </a:rPr>
                        <a:t>WAV </a:t>
                      </a:r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格式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9" action="ppaction://hlinksldjump"/>
                        </a:rPr>
                        <a:t>Phase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相位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742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768823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聲音濾波與環境聲學 </a:t>
                      </a:r>
                      <a:endParaRPr lang="en-US" altLang="zh-TW" sz="14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(Filtering &amp; Acoustics)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r>
                        <a:rPr lang="zh-TW" altLang="en-US" sz="14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語音聲學與特徵</a:t>
                      </a:r>
                      <a:endParaRPr lang="en-US" altLang="zh-TW" sz="14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4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(Speech &amp; Acoustic Features)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993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10" action="ppaction://hlinksldjump"/>
                        </a:rPr>
                        <a:t>Filter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濾波器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11" action="ppaction://hlinksldjump"/>
                        </a:rPr>
                        <a:t>F0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11" action="ppaction://hlinksldjump"/>
                        </a:rPr>
                        <a:t>基頻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ea typeface="微軟正黑體" panose="020B0604030504040204" pitchFamily="34" charset="-120"/>
                        </a:rPr>
                        <a:t>Fundamental Frequency</a:t>
                      </a:r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781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12" action="ppaction://hlinksldjump"/>
                        </a:rPr>
                        <a:t>FIR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ea typeface="微軟正黑體" panose="020B0604030504040204" pitchFamily="34" charset="-120"/>
                        </a:rPr>
                        <a:t>Finite Impulse Response</a:t>
                      </a:r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有限脈衝響應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13" action="ppaction://hlinksldjump"/>
                        </a:rPr>
                        <a:t>母音 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13" action="ppaction://hlinksldjump"/>
                        </a:rPr>
                        <a:t>/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13" action="ppaction://hlinksldjump"/>
                        </a:rPr>
                        <a:t>子音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ea typeface="微軟正黑體" panose="020B0604030504040204" pitchFamily="34" charset="-120"/>
                        </a:rPr>
                        <a:t>Vowels / Consonants</a:t>
                      </a:r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293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14" action="ppaction://hlinksldjump"/>
                        </a:rPr>
                        <a:t>IIR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ea typeface="微軟正黑體" panose="020B0604030504040204" pitchFamily="34" charset="-120"/>
                        </a:rPr>
                        <a:t>Infinite Impulse Response</a:t>
                      </a:r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無限脈衝響應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15" action="ppaction://hlinksldjump"/>
                        </a:rPr>
                        <a:t>MFCC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ea typeface="微軟正黑體" panose="020B0604030504040204" pitchFamily="34" charset="-120"/>
                        </a:rPr>
                        <a:t>Mel-Frequency </a:t>
                      </a:r>
                      <a:r>
                        <a:rPr lang="en-US" altLang="zh-TW" sz="1400" dirty="0" err="1">
                          <a:ea typeface="微軟正黑體" panose="020B0604030504040204" pitchFamily="34" charset="-120"/>
                        </a:rPr>
                        <a:t>Cepstral</a:t>
                      </a:r>
                      <a:r>
                        <a:rPr lang="en-US" altLang="zh-TW" sz="1400" dirty="0">
                          <a:ea typeface="微軟正黑體" panose="020B0604030504040204" pitchFamily="34" charset="-120"/>
                        </a:rPr>
                        <a:t> Coefficients</a:t>
                      </a:r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梅爾頻率倒頻譜係數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27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16" action="ppaction://hlinksldjump"/>
                        </a:rPr>
                        <a:t>RIR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ea typeface="微軟正黑體" panose="020B0604030504040204" pitchFamily="34" charset="-120"/>
                        </a:rPr>
                        <a:t>Room Impulse Response</a:t>
                      </a:r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房間脈衝響應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3"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100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17" action="ppaction://hlinksldjump"/>
                        </a:rPr>
                        <a:t>SNR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ea typeface="微軟正黑體" panose="020B0604030504040204" pitchFamily="34" charset="-120"/>
                        </a:rPr>
                        <a:t>Signal-to-Noise Ratio</a:t>
                      </a:r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ea typeface="微軟正黑體" panose="020B0604030504040204" pitchFamily="34" charset="-120"/>
                        </a:rPr>
                        <a:t>訊噪比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774525"/>
                  </a:ext>
                </a:extLst>
              </a:tr>
            </a:tbl>
          </a:graphicData>
        </a:graphic>
      </p:graphicFrame>
      <p:sp>
        <p:nvSpPr>
          <p:cNvPr id="10" name="圓角矩形 9">
            <a:hlinkClick r:id="rId18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863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838200" y="44538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名詞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___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</a:rPr>
              <a:t>分類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188906"/>
              </p:ext>
            </p:extLst>
          </p:nvPr>
        </p:nvGraphicFramePr>
        <p:xfrm>
          <a:off x="336885" y="1631712"/>
          <a:ext cx="11518231" cy="468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352">
                  <a:extLst>
                    <a:ext uri="{9D8B030D-6E8A-4147-A177-3AD203B41FA5}">
                      <a16:colId xmlns:a16="http://schemas.microsoft.com/office/drawing/2014/main" val="247778324"/>
                    </a:ext>
                  </a:extLst>
                </a:gridCol>
                <a:gridCol w="595423">
                  <a:extLst>
                    <a:ext uri="{9D8B030D-6E8A-4147-A177-3AD203B41FA5}">
                      <a16:colId xmlns:a16="http://schemas.microsoft.com/office/drawing/2014/main" val="2091728737"/>
                    </a:ext>
                  </a:extLst>
                </a:gridCol>
                <a:gridCol w="616689">
                  <a:extLst>
                    <a:ext uri="{9D8B030D-6E8A-4147-A177-3AD203B41FA5}">
                      <a16:colId xmlns:a16="http://schemas.microsoft.com/office/drawing/2014/main" val="3829560380"/>
                    </a:ext>
                  </a:extLst>
                </a:gridCol>
                <a:gridCol w="829339">
                  <a:extLst>
                    <a:ext uri="{9D8B030D-6E8A-4147-A177-3AD203B41FA5}">
                      <a16:colId xmlns:a16="http://schemas.microsoft.com/office/drawing/2014/main" val="1175788278"/>
                    </a:ext>
                  </a:extLst>
                </a:gridCol>
                <a:gridCol w="2968933">
                  <a:extLst>
                    <a:ext uri="{9D8B030D-6E8A-4147-A177-3AD203B41FA5}">
                      <a16:colId xmlns:a16="http://schemas.microsoft.com/office/drawing/2014/main" val="1515056271"/>
                    </a:ext>
                  </a:extLst>
                </a:gridCol>
                <a:gridCol w="411366">
                  <a:extLst>
                    <a:ext uri="{9D8B030D-6E8A-4147-A177-3AD203B41FA5}">
                      <a16:colId xmlns:a16="http://schemas.microsoft.com/office/drawing/2014/main" val="615127368"/>
                    </a:ext>
                  </a:extLst>
                </a:gridCol>
                <a:gridCol w="511219">
                  <a:extLst>
                    <a:ext uri="{9D8B030D-6E8A-4147-A177-3AD203B41FA5}">
                      <a16:colId xmlns:a16="http://schemas.microsoft.com/office/drawing/2014/main" val="1722845957"/>
                    </a:ext>
                  </a:extLst>
                </a:gridCol>
                <a:gridCol w="1403497">
                  <a:extLst>
                    <a:ext uri="{9D8B030D-6E8A-4147-A177-3AD203B41FA5}">
                      <a16:colId xmlns:a16="http://schemas.microsoft.com/office/drawing/2014/main" val="3245249331"/>
                    </a:ext>
                  </a:extLst>
                </a:gridCol>
                <a:gridCol w="426344">
                  <a:extLst>
                    <a:ext uri="{9D8B030D-6E8A-4147-A177-3AD203B41FA5}">
                      <a16:colId xmlns:a16="http://schemas.microsoft.com/office/drawing/2014/main" val="432189502"/>
                    </a:ext>
                  </a:extLst>
                </a:gridCol>
                <a:gridCol w="3231069">
                  <a:extLst>
                    <a:ext uri="{9D8B030D-6E8A-4147-A177-3AD203B41FA5}">
                      <a16:colId xmlns:a16="http://schemas.microsoft.com/office/drawing/2014/main" val="2440580152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三個基本物理量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Time Domain (</a:t>
                      </a: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時間域</a:t>
                      </a:r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63281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Time</a:t>
                      </a:r>
                      <a:endParaRPr lang="en-US" altLang="zh-TW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訊號發生的先後順序與持續長短，單位通常是秒 </a:t>
                      </a:r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(s) </a:t>
                      </a: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或毫秒 </a:t>
                      </a:r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altLang="zh-TW" sz="1000" b="0" dirty="0" err="1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ms</a:t>
                      </a:r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Def</a:t>
                      </a:r>
                      <a:endParaRPr lang="en-US" altLang="zh-TW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這是我們觀察這個世界最直覺的視角。它記錄了訊號「隨時間發生的真實波動過程」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3887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Amplitude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振幅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訊號在某個瞬間的「強度」或「大小」。在聲音中，振幅通常代表音量（聲壓大小）。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看在特定的「時間點」，訊號的「振幅」有多大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00469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Frequency</a:t>
                      </a:r>
                      <a:endParaRPr lang="en-US" altLang="zh-TW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頻率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訊號在一秒鐘內來回震動的次數，單位是赫茲 </a:t>
                      </a:r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(Hz)</a:t>
                      </a: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。震動越快，頻率越高。在聲音中，頻率代表音高 </a:t>
                      </a:r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(Pitch)</a:t>
                      </a:r>
                      <a:r>
                        <a:rPr lang="zh-TW" altLang="en-US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（例如：高頻是尖銳的鳥叫，低頻是低沉的鼓聲）。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圖表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Waveform 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波形圖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圖表類別：通常是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2D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 折線圖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(Line Chart)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</a:p>
                    <a:p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橫軸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Time 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縱軸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Amplitude 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振幅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61430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優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可以清楚看到聲音的「節奏」、何時開始、何時結束、哪裡最大聲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742087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Frequency Domain 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頻率域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缺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你看不出這段聲音包含什麼「</a:t>
                      </a:r>
                      <a:r>
                        <a:rPr lang="zh-TW" altLang="en-US" sz="1000" b="0" dirty="0" smtClean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音高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」。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就像你只能看到一盤菜的外觀，但不知道裡面加了什麼香料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04406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利用數學（傅立葉變換）把複雜的波形拆解開來，看看裡面「包含了哪些頻率成分」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zh-TW" altLang="en-US" sz="1000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7688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看整段訊號中，某個特定的「頻率」，其擁有的「能量（振幅）」有多強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兩者的結合：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STFT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與時頻域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(Time-Frequency Domain)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993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圖表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折線圖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(Line Chart)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柱狀圖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(Bar Chart)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橫軸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Frequency 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頻率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縱軸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Amplitude / Magnitude 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振幅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能量大小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en-US" altLang="zh-TW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Def</a:t>
                      </a:r>
                      <a:endParaRPr lang="en-US" altLang="zh-TW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因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Time Domain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看不到音高，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Frequency Domain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看不到時間，所以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STFT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就為了解決這個問題，創造出第三種圖表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781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優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可以一目了然地看出聲音的「音高」或「成分」。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就像直接給你這盤菜的食譜：鹽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克、糖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克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圖表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2D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熱力圖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altLang="zh-TW" sz="1000" b="0" dirty="0" err="1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Heatmap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dirty="0" smtClean="0"/>
                        <a:t>Spectrogram</a:t>
                      </a:r>
                      <a:r>
                        <a:rPr lang="en-US" altLang="zh-TW" sz="1000" dirty="0" smtClean="0"/>
                        <a:t>(</a:t>
                      </a:r>
                      <a:r>
                        <a:rPr lang="zh-TW" altLang="en-US" sz="1000" dirty="0" smtClean="0"/>
                        <a:t>音訊頻譜圖</a:t>
                      </a:r>
                      <a:r>
                        <a:rPr lang="en-US" altLang="zh-TW" sz="1000" dirty="0" smtClean="0"/>
                        <a:t>)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橫軸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Time 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軸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縱軸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Frequency 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頻率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顏色深淺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亮度：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Amplitude / Magnitude (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振幅大小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293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缺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資訊消失了。不知道這個頻率是何時發出的，只知道整段聲音裡有這個頻率。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意義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完美結合了三者，告訴我們「在什麼時間點，有什麼頻率，這個頻率的振幅有多大」。這是語音辨識與 </a:t>
                      </a:r>
                      <a:r>
                        <a:rPr lang="en-US" altLang="zh-TW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</a:t>
                      </a:r>
                      <a:r>
                        <a:rPr lang="zh-TW" altLang="en-US" sz="1000" b="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最常閱讀的圖表</a:t>
                      </a:r>
                      <a:endParaRPr lang="zh-TW" altLang="en-US" sz="1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1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270259"/>
                  </a:ext>
                </a:extLst>
              </a:tr>
            </a:tbl>
          </a:graphicData>
        </a:graphic>
      </p:graphicFrame>
      <p:sp>
        <p:nvSpPr>
          <p:cNvPr id="6" name="向右箭號 5"/>
          <p:cNvSpPr/>
          <p:nvPr/>
        </p:nvSpPr>
        <p:spPr>
          <a:xfrm>
            <a:off x="5883349" y="2434857"/>
            <a:ext cx="396949" cy="279990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右箭號 6"/>
          <p:cNvSpPr/>
          <p:nvPr/>
        </p:nvSpPr>
        <p:spPr>
          <a:xfrm>
            <a:off x="5883348" y="4919965"/>
            <a:ext cx="396949" cy="27999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右箭號 7"/>
          <p:cNvSpPr/>
          <p:nvPr/>
        </p:nvSpPr>
        <p:spPr>
          <a:xfrm rot="5400000">
            <a:off x="8692690" y="4117879"/>
            <a:ext cx="358587" cy="29864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 rot="5400000">
            <a:off x="3018032" y="3355879"/>
            <a:ext cx="358587" cy="298649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1646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待學習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600" dirty="0" smtClean="0"/>
              <a:t>Mono(</a:t>
            </a:r>
            <a:r>
              <a:rPr lang="zh-TW" altLang="en-US" sz="1600" dirty="0"/>
              <a:t>一維 </a:t>
            </a:r>
            <a:r>
              <a:rPr lang="en-US" altLang="zh-TW" sz="1600" dirty="0"/>
              <a:t>mono </a:t>
            </a:r>
            <a:r>
              <a:rPr lang="zh-TW" altLang="en-US" sz="1600" dirty="0"/>
              <a:t>音訊</a:t>
            </a:r>
            <a:r>
              <a:rPr lang="en-US" altLang="zh-TW" sz="1600" dirty="0" smtClean="0"/>
              <a:t>)</a:t>
            </a:r>
          </a:p>
          <a:p>
            <a:r>
              <a:rPr lang="zh-TW" altLang="en-US" sz="1600" dirty="0"/>
              <a:t>圖的種類</a:t>
            </a:r>
          </a:p>
        </p:txBody>
      </p:sp>
    </p:spTree>
    <p:extLst>
      <p:ext uri="{BB962C8B-B14F-4D97-AF65-F5344CB8AC3E}">
        <p14:creationId xmlns:p14="http://schemas.microsoft.com/office/powerpoint/2010/main" val="4019716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74" y="238259"/>
            <a:ext cx="5444055" cy="43176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729" y="238260"/>
            <a:ext cx="5561644" cy="43176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>
          <a:xfrm>
            <a:off x="561474" y="2695074"/>
            <a:ext cx="5444055" cy="1860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6210523" y="2695074"/>
            <a:ext cx="5444055" cy="1860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7475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275318"/>
              </p:ext>
            </p:extLst>
          </p:nvPr>
        </p:nvGraphicFramePr>
        <p:xfrm>
          <a:off x="1958788" y="1340570"/>
          <a:ext cx="7830672" cy="2346960"/>
        </p:xfrm>
        <a:graphic>
          <a:graphicData uri="http://schemas.openxmlformats.org/drawingml/2006/table">
            <a:tbl>
              <a:tblPr/>
              <a:tblGrid>
                <a:gridCol w="3915336">
                  <a:extLst>
                    <a:ext uri="{9D8B030D-6E8A-4147-A177-3AD203B41FA5}">
                      <a16:colId xmlns:a16="http://schemas.microsoft.com/office/drawing/2014/main" val="1245406622"/>
                    </a:ext>
                  </a:extLst>
                </a:gridCol>
                <a:gridCol w="3915336">
                  <a:extLst>
                    <a:ext uri="{9D8B030D-6E8A-4147-A177-3AD203B41FA5}">
                      <a16:colId xmlns:a16="http://schemas.microsoft.com/office/drawing/2014/main" val="71449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想證明什麼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比較合適的方式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861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原始與處理後頻率能量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PSD / Welch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446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兩個方法誰壓得比較多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Attenuation / PSD ratio </a:t>
                      </a:r>
                      <a:r>
                        <a:rPr lang="zh-TW" altLang="en-US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2538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STFT </a:t>
                      </a:r>
                      <a:r>
                        <a:rPr lang="en-US" sz="1600" b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哪些</a:t>
                      </a:r>
                      <a:r>
                        <a:rPr lang="en-US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frequency bins </a:t>
                      </a:r>
                      <a:r>
                        <a:rPr lang="en-US" sz="1600" b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被移除</a:t>
                      </a:r>
                      <a:endParaRPr lang="en-US" sz="16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Spectrogram / STFT magnitude </a:t>
                      </a:r>
                      <a:r>
                        <a:rPr lang="zh-TW" altLang="en-US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999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IIR filter </a:t>
                      </a:r>
                      <a:r>
                        <a:rPr lang="zh-TW" altLang="en-US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本身長什麼樣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Frequency response H(f)H(f) </a:t>
                      </a:r>
                      <a:r>
                        <a:rPr lang="zh-TW" altLang="en-US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05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時域 </a:t>
                      </a:r>
                      <a:r>
                        <a:rPr lang="en-US" altLang="zh-TW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waveform </a:t>
                      </a:r>
                      <a:r>
                        <a:rPr lang="zh-TW" altLang="en-US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有沒有異常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Waveform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63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 Hz </a:t>
                      </a:r>
                      <a:r>
                        <a:rPr lang="zh-TW" altLang="en-US" sz="1600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以下總共降低多少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Band power / dB reduction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276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024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38200" y="44538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專有名詞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___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</a:rPr>
              <a:t>流程</a:t>
            </a:r>
            <a:endParaRPr lang="zh-TW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67016" y="2170042"/>
            <a:ext cx="926592" cy="179966"/>
          </a:xfrm>
          <a:prstGeom prst="rect">
            <a:avLst/>
          </a:prstGeom>
          <a:solidFill>
            <a:srgbClr val="DEEBF7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282440" y="4525803"/>
            <a:ext cx="682752" cy="183357"/>
          </a:xfrm>
          <a:prstGeom prst="rect">
            <a:avLst/>
          </a:prstGeom>
          <a:solidFill>
            <a:srgbClr val="FBE5D6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365248" y="3097724"/>
            <a:ext cx="332232" cy="203260"/>
          </a:xfrm>
          <a:prstGeom prst="rect">
            <a:avLst/>
          </a:prstGeom>
          <a:solidFill>
            <a:srgbClr val="E2F0D9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752088" y="1166841"/>
            <a:ext cx="530352" cy="203260"/>
          </a:xfrm>
          <a:prstGeom prst="rect">
            <a:avLst/>
          </a:prstGeom>
          <a:solidFill>
            <a:srgbClr val="D0CECE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5553456" y="2605906"/>
            <a:ext cx="829056" cy="192158"/>
          </a:xfrm>
          <a:prstGeom prst="rect">
            <a:avLst/>
          </a:prstGeom>
          <a:solidFill>
            <a:srgbClr val="DEEBF7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2249424" y="2358884"/>
            <a:ext cx="667512" cy="247022"/>
          </a:xfrm>
          <a:prstGeom prst="rect">
            <a:avLst/>
          </a:prstGeom>
          <a:solidFill>
            <a:srgbClr val="DEEBF7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7208520" y="2389340"/>
            <a:ext cx="563880" cy="216566"/>
          </a:xfrm>
          <a:prstGeom prst="rect">
            <a:avLst/>
          </a:prstGeom>
          <a:solidFill>
            <a:srgbClr val="DEEBF7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6309360" y="4305870"/>
            <a:ext cx="384048" cy="219933"/>
          </a:xfrm>
          <a:prstGeom prst="rect">
            <a:avLst/>
          </a:prstGeom>
          <a:solidFill>
            <a:srgbClr val="FBE5D6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52400" y="4952047"/>
            <a:ext cx="685800" cy="205170"/>
          </a:xfrm>
          <a:prstGeom prst="rect">
            <a:avLst/>
          </a:prstGeom>
          <a:solidFill>
            <a:srgbClr val="FBE5D6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195072" y="5213310"/>
            <a:ext cx="417576" cy="199938"/>
          </a:xfrm>
          <a:prstGeom prst="rect">
            <a:avLst/>
          </a:prstGeom>
          <a:solidFill>
            <a:srgbClr val="FBE5D6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4081272" y="3140396"/>
            <a:ext cx="381000" cy="160588"/>
          </a:xfrm>
          <a:prstGeom prst="rect">
            <a:avLst/>
          </a:prstGeom>
          <a:solidFill>
            <a:srgbClr val="E2F0D9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396240" y="3577378"/>
            <a:ext cx="216408" cy="171662"/>
          </a:xfrm>
          <a:prstGeom prst="rect">
            <a:avLst/>
          </a:prstGeom>
          <a:solidFill>
            <a:srgbClr val="E2F0D9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396240" y="3815506"/>
            <a:ext cx="216408" cy="171662"/>
          </a:xfrm>
          <a:prstGeom prst="rect">
            <a:avLst/>
          </a:prstGeom>
          <a:solidFill>
            <a:srgbClr val="E2F0D9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7900416" y="1166841"/>
            <a:ext cx="292608" cy="203260"/>
          </a:xfrm>
          <a:prstGeom prst="rect">
            <a:avLst/>
          </a:prstGeom>
          <a:solidFill>
            <a:srgbClr val="D0CECE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11061192" y="1166841"/>
            <a:ext cx="292608" cy="203260"/>
          </a:xfrm>
          <a:prstGeom prst="rect">
            <a:avLst/>
          </a:prstGeom>
          <a:solidFill>
            <a:srgbClr val="D0CECE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6594348" y="1409135"/>
            <a:ext cx="216408" cy="171662"/>
          </a:xfrm>
          <a:prstGeom prst="rect">
            <a:avLst/>
          </a:prstGeom>
          <a:solidFill>
            <a:srgbClr val="E2F0D9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4034028" y="1622226"/>
            <a:ext cx="318516" cy="188285"/>
          </a:xfrm>
          <a:prstGeom prst="rect">
            <a:avLst/>
          </a:prstGeom>
          <a:solidFill>
            <a:srgbClr val="E2F0D9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362456" y="5946105"/>
            <a:ext cx="466344" cy="162087"/>
          </a:xfrm>
          <a:prstGeom prst="rect">
            <a:avLst/>
          </a:prstGeom>
          <a:solidFill>
            <a:srgbClr val="D0CECE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0" y="844479"/>
            <a:ext cx="12192000" cy="58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階段一：聲學環境與物理發聲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(Acoustic Generation &amp; Propagation)</a:t>
            </a:r>
          </a:p>
          <a:p>
            <a:pPr>
              <a:lnSpc>
                <a:spcPct val="150000"/>
              </a:lnSpc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一切始於人類說話。當說話者發聲時，聲帶振動產生了決定音高的 </a:t>
            </a:r>
            <a:r>
              <a:rPr lang="en-US" altLang="zh-TW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 action="ppaction://hlinksldjump"/>
              </a:rPr>
              <a:t>F0 </a:t>
            </a:r>
            <a:r>
              <a:rPr lang="zh-TW" altLang="en-US" sz="1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 action="ppaction://hlinksldjump"/>
              </a:rPr>
              <a:t>基頻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。接著，氣流通過口腔與鼻腔，被塑造成帶有週期性與穩定能量的</a:t>
            </a:r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 action="ppaction://hlinksldjump"/>
              </a:rPr>
              <a:t>母音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，或是受到嘴唇與舌頭阻礙、帶有摩擦與爆破特性的 </a:t>
            </a:r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 action="ppaction://hlinksldjump"/>
              </a:rPr>
              <a:t>子音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聲音一旦離開嘴巴，便進入物理空間傳遞。這個空間（如會議室、浴室）本身的反射與殘響特性，會形成一組特定的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4" action="ppaction://hlinksldjump"/>
              </a:rPr>
              <a:t>RIR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。乾淨的語音在空氣中與這組 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RIR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產生物理卷積（疊加了殘響），同時又混入了冷氣聲等背景雜訊，這導致到達麥克風時，有用聲音與無用雜訊的比例下降，也就是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 action="ppaction://hlinksldjump"/>
              </a:rPr>
              <a:t>SNR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變差了。</a:t>
            </a:r>
          </a:p>
          <a:p>
            <a:pPr>
              <a:lnSpc>
                <a:spcPct val="150000"/>
              </a:lnSpc>
            </a:pP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階段二：類比轉數位與資料封裝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(Digital Capture &amp; Storage)</a:t>
            </a:r>
          </a:p>
          <a:p>
            <a:pPr>
              <a:lnSpc>
                <a:spcPct val="150000"/>
              </a:lnSpc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為了讓電腦處理這些帶有雜訊的聲波，麥克風硬體必須將類比電壓轉換為數位訊號。 系統會以每秒數萬次的頻率進行抓取，這就是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6" action="ppaction://hlinksldjump"/>
              </a:rPr>
              <a:t>Sampling rate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（例如語音辨識常用的 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16,000 Hz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）。每一次抓取時，會用特定的位元數來記錄當下聲音振幅的精細度，即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7" action="ppaction://hlinksldjump"/>
              </a:rPr>
              <a:t>Bit depth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（如 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16-bit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）。同時，系統會記錄接收的聲音來源數量，例如單支麥克風為單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8" action="ppaction://hlinksldjump"/>
              </a:rPr>
              <a:t>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8" action="ppaction://hlinksldjump"/>
              </a:rPr>
              <a:t>Channel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，雙麥克風為雙聲道。</a:t>
            </a:r>
          </a:p>
          <a:p>
            <a:pPr>
              <a:lnSpc>
                <a:spcPct val="150000"/>
              </a:lnSpc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最終，這些未經任何破壞性壓縮、原汁原味的數位音訊矩陣，會被加上標頭檔，封裝儲存成標準的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9" action="ppaction://hlinksldjump"/>
              </a:rPr>
              <a:t>WAV format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檔案，供後續演算法讀取。</a:t>
            </a:r>
          </a:p>
          <a:p>
            <a:pPr>
              <a:lnSpc>
                <a:spcPct val="150000"/>
              </a:lnSpc>
            </a:pP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階段三：訊號淨化與前處理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(Signal Enhancement &amp; Filtering)</a:t>
            </a:r>
          </a:p>
          <a:p>
            <a:pPr>
              <a:lnSpc>
                <a:spcPct val="150000"/>
              </a:lnSpc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讀取 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WAV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檔後，首要任務是拯救低落的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 action="ppaction://hlinksldjump"/>
              </a:rPr>
              <a:t>SNR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。工程師會設計各種數位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0" action="ppaction://hlinksldjump"/>
              </a:rPr>
              <a:t>Filter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來消除不想要的頻段（例如切除 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60Hz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以下的低頻風切聲）。</a:t>
            </a:r>
          </a:p>
          <a:p>
            <a:pPr>
              <a:lnSpc>
                <a:spcPct val="150000"/>
              </a:lnSpc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在設計濾波器時，工程師面臨兩種選擇：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採用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1" action="ppaction://hlinksldjump"/>
              </a:rPr>
              <a:t>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1" action="ppaction://hlinksldjump"/>
              </a:rPr>
              <a:t>IIR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濾波器：運算極快、極省電，適合即時通訊，但它可能會造成聲音的「相位失真」。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採用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2" action="ppaction://hlinksldjump"/>
              </a:rPr>
              <a:t>FIR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濾波器：運算量龐大，但能保證「線性相位」，確保母音與子音的時間波形不變形，適合高精度的音訊處理。</a:t>
            </a:r>
          </a:p>
          <a:p>
            <a:pPr>
              <a:lnSpc>
                <a:spcPct val="150000"/>
              </a:lnSpc>
            </a:pP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階段四：時頻轉換與微觀分析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(Time-Frequency Transformation)</a:t>
            </a:r>
          </a:p>
          <a:p>
            <a:pPr>
              <a:lnSpc>
                <a:spcPct val="150000"/>
              </a:lnSpc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淨化後的音訊是一長串隨時間起伏的波形，電腦無法直接看出裡面藏了什麼字。因此，我們必須對這段音訊執行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3" action="ppaction://hlinksldjump"/>
              </a:rPr>
              <a:t>STFT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 因為語音是動態變化的（一秒內可能說了三四個字），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STFT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會把音訊切成幾十毫秒的微小時間窗，逐一進行轉換，最終把一維的時間波形，展開成二維（時間 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頻率）的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4" action="ppaction://hlinksldjump"/>
              </a:rPr>
              <a:t>Spectrum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STFT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計算出來的頻譜是</a:t>
            </a:r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複數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，包含兩個至關重要的物理量：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5" action="ppaction://hlinksldjump"/>
              </a:rPr>
              <a:t>Magnitude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：記錄了各個頻率在特定時間點的能量強弱。這是語音辨識最需要的核心資訊，因為不同的母音和子音，其振幅能量分佈截然不同。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6" action="ppaction://hlinksldjump"/>
              </a:rPr>
              <a:t>Phase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：記錄了波形在時間上的精確對齊狀態。如果要用 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把人聲從音樂中「分離」出來並還原成 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WAV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檔，就必須保留相位資訊；但若純粹為了讓機器「聽懂」文字，相位資訊通常在此階段被丟棄。</a:t>
            </a:r>
          </a:p>
          <a:p>
            <a:pPr>
              <a:lnSpc>
                <a:spcPct val="150000"/>
              </a:lnSpc>
            </a:pP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階段五：高階特徵萃取與機器理解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(Feature Extraction &amp; AI Recognition)</a:t>
            </a:r>
          </a:p>
          <a:p>
            <a:pPr>
              <a:lnSpc>
                <a:spcPct val="150000"/>
              </a:lnSpc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即便取得了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Magnitude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頻譜，資料量依然太龐大，且包含了對語音辨識無用的個人音色差異（如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F0 </a:t>
            </a:r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基頻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的高低）。 為了解決這個問題，演算法會模擬「人類耳朵對低頻敏感、高頻遲鈍」的非線性聽覺機制，將龐大的頻譜壓縮並轉換為 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17" action="ppaction://hlinksldjump"/>
              </a:rPr>
              <a:t>MFCC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MFCC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是整個流程的最終濃縮精華。它成功濾除了語音中不重要的細節（剝離了音高 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F0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與雜訊），完美捕捉了說話者當下口腔與聲道的幾何形狀特徵（頻譜包絡）。最後，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神經網路只要讀取這組微小的 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MFCC 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數值矩陣，就能精準判定這個瞬間發出的是哪個 </a:t>
            </a:r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母音或子音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，進而將整段音訊翻譯成人類文字。</a:t>
            </a:r>
          </a:p>
        </p:txBody>
      </p:sp>
    </p:spTree>
    <p:extLst>
      <p:ext uri="{BB962C8B-B14F-4D97-AF65-F5344CB8AC3E}">
        <p14:creationId xmlns:p14="http://schemas.microsoft.com/office/powerpoint/2010/main" val="299552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Sampling rate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73696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 smtClean="0"/>
              <a:t>:</a:t>
            </a:r>
            <a:r>
              <a:rPr lang="zh-TW" altLang="en-US" sz="1600" dirty="0"/>
              <a:t>目標</a:t>
            </a:r>
            <a:r>
              <a:rPr lang="zh-TW" altLang="en-US" sz="1600" dirty="0" smtClean="0"/>
              <a:t>取樣率</a:t>
            </a:r>
            <a:endParaRPr lang="en-US" altLang="zh-TW" sz="1600" dirty="0" smtClean="0"/>
          </a:p>
          <a:p>
            <a:r>
              <a:rPr lang="zh-TW" altLang="en-US" sz="1600" dirty="0" smtClean="0"/>
              <a:t>簡稱</a:t>
            </a:r>
            <a:r>
              <a:rPr lang="en-US" altLang="zh-TW" sz="1600" dirty="0" smtClean="0"/>
              <a:t>:SR</a:t>
            </a:r>
            <a:endParaRPr lang="en-US" altLang="zh-TW" sz="1600" dirty="0"/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</a:t>
            </a:r>
          </a:p>
          <a:p>
            <a:pPr lvl="1"/>
            <a:r>
              <a:rPr lang="zh-TW" altLang="en-US" sz="1600" dirty="0"/>
              <a:t>每秒鐘將</a:t>
            </a:r>
            <a:r>
              <a:rPr lang="zh-TW" altLang="en-US" sz="1600" dirty="0">
                <a:solidFill>
                  <a:srgbClr val="FF0000"/>
                </a:solidFill>
              </a:rPr>
              <a:t>類比聲音</a:t>
            </a:r>
            <a:r>
              <a:rPr lang="zh-TW" altLang="en-US" sz="1600" dirty="0"/>
              <a:t>轉換為</a:t>
            </a:r>
            <a:r>
              <a:rPr lang="zh-TW" altLang="en-US" sz="1600" dirty="0">
                <a:solidFill>
                  <a:srgbClr val="FF0000"/>
                </a:solidFill>
              </a:rPr>
              <a:t>數位訊號</a:t>
            </a:r>
            <a:r>
              <a:rPr lang="zh-TW" altLang="en-US" sz="1600" dirty="0"/>
              <a:t>的次數，單位是赫茲 </a:t>
            </a:r>
            <a:r>
              <a:rPr lang="en-US" altLang="zh-TW" sz="1600" dirty="0"/>
              <a:t>(Hz)</a:t>
            </a:r>
            <a:r>
              <a:rPr lang="zh-TW" altLang="zh-TW" sz="1600" dirty="0"/>
              <a:t> （次/秒）</a:t>
            </a:r>
            <a:r>
              <a:rPr lang="zh-TW" altLang="en-US" sz="1600" dirty="0"/>
              <a:t>。例如 </a:t>
            </a:r>
            <a:r>
              <a:rPr lang="en-US" altLang="zh-TW" sz="1600" dirty="0"/>
              <a:t>CD </a:t>
            </a:r>
            <a:r>
              <a:rPr lang="zh-TW" altLang="en-US" sz="1600" dirty="0"/>
              <a:t>音質為 </a:t>
            </a:r>
            <a:r>
              <a:rPr lang="en-US" altLang="zh-TW" sz="1600" dirty="0"/>
              <a:t>44,100 Hz</a:t>
            </a:r>
            <a:r>
              <a:rPr lang="zh-TW" altLang="en-US" sz="1600" dirty="0"/>
              <a:t>。取樣率越高，能記錄的聲音頻率上限就越高。</a:t>
            </a:r>
            <a:endParaRPr lang="en-US" altLang="zh-TW" sz="1600" dirty="0"/>
          </a:p>
          <a:p>
            <a:pPr lvl="1"/>
            <a:r>
              <a:rPr lang="zh-TW" altLang="en-US" sz="1600" dirty="0"/>
              <a:t>決定：</a:t>
            </a:r>
            <a:r>
              <a:rPr lang="zh-TW" altLang="zh-TW" sz="1600" dirty="0"/>
              <a:t>「時間軸切多細」</a:t>
            </a:r>
            <a:endParaRPr lang="en-US" altLang="zh-TW" sz="1600" dirty="0"/>
          </a:p>
          <a:p>
            <a:r>
              <a:rPr lang="zh-TW" altLang="en-US" sz="1600" dirty="0"/>
              <a:t>例子：</a:t>
            </a:r>
            <a:endParaRPr lang="en-US" altLang="zh-TW" sz="1600" dirty="0"/>
          </a:p>
          <a:p>
            <a:pPr lvl="1"/>
            <a:r>
              <a:rPr lang="zh-TW" altLang="zh-TW" sz="1600" dirty="0"/>
              <a:t>8,000 Hz → 每秒取樣 8,000 次</a:t>
            </a:r>
          </a:p>
          <a:p>
            <a:pPr lvl="1"/>
            <a:r>
              <a:rPr lang="zh-TW" altLang="zh-TW" sz="1600" dirty="0"/>
              <a:t>16,000 Hz → 每秒取樣 16,000 次</a:t>
            </a:r>
          </a:p>
          <a:p>
            <a:pPr lvl="1"/>
            <a:r>
              <a:rPr lang="zh-TW" altLang="zh-TW" sz="1600" dirty="0"/>
              <a:t>44,100 Hz → 每秒取樣 44,100 次</a:t>
            </a:r>
          </a:p>
          <a:p>
            <a:pPr lvl="1"/>
            <a:r>
              <a:rPr lang="zh-TW" altLang="zh-TW" sz="1600" dirty="0"/>
              <a:t>48,000 Hz → 每秒取樣 48,000 次</a:t>
            </a:r>
          </a:p>
          <a:p>
            <a:endParaRPr lang="en-US" altLang="zh-TW" sz="1600" dirty="0"/>
          </a:p>
          <a:p>
            <a:endParaRPr lang="zh-TW" altLang="en-US" sz="1600" dirty="0"/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448B0EE-931F-B7C0-F0BC-A6773FE9B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18063"/>
              </p:ext>
            </p:extLst>
          </p:nvPr>
        </p:nvGraphicFramePr>
        <p:xfrm>
          <a:off x="7247061" y="3543370"/>
          <a:ext cx="4272774" cy="1463040"/>
        </p:xfrm>
        <a:graphic>
          <a:graphicData uri="http://schemas.openxmlformats.org/drawingml/2006/table">
            <a:tbl>
              <a:tblPr/>
              <a:tblGrid>
                <a:gridCol w="839781">
                  <a:extLst>
                    <a:ext uri="{9D8B030D-6E8A-4147-A177-3AD203B41FA5}">
                      <a16:colId xmlns:a16="http://schemas.microsoft.com/office/drawing/2014/main" val="509599118"/>
                    </a:ext>
                  </a:extLst>
                </a:gridCol>
                <a:gridCol w="2008735">
                  <a:extLst>
                    <a:ext uri="{9D8B030D-6E8A-4147-A177-3AD203B41FA5}">
                      <a16:colId xmlns:a16="http://schemas.microsoft.com/office/drawing/2014/main" val="610923219"/>
                    </a:ext>
                  </a:extLst>
                </a:gridCol>
                <a:gridCol w="1424258">
                  <a:extLst>
                    <a:ext uri="{9D8B030D-6E8A-4147-A177-3AD203B41FA5}">
                      <a16:colId xmlns:a16="http://schemas.microsoft.com/office/drawing/2014/main" val="1799360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TW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b="0" i="0" dirty="0">
                          <a:solidFill>
                            <a:srgbClr val="000000"/>
                          </a:solidFill>
                          <a:effectLst/>
                        </a:rPr>
                        <a:t>Sampling Rate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b="0" i="0">
                          <a:solidFill>
                            <a:srgbClr val="000000"/>
                          </a:solidFill>
                          <a:effectLst/>
                        </a:rPr>
                        <a:t>Bit Depth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790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b="0" i="0">
                          <a:solidFill>
                            <a:srgbClr val="000000"/>
                          </a:solidFill>
                          <a:effectLst/>
                        </a:rPr>
                        <a:t>決定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b="0" i="0">
                          <a:solidFill>
                            <a:srgbClr val="000000"/>
                          </a:solidFill>
                          <a:effectLst/>
                        </a:rPr>
                        <a:t>時間解析度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b="0" i="0">
                          <a:solidFill>
                            <a:srgbClr val="000000"/>
                          </a:solidFill>
                          <a:effectLst/>
                        </a:rPr>
                        <a:t>振幅解析度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938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b="0" i="0">
                          <a:solidFill>
                            <a:srgbClr val="000000"/>
                          </a:solidFill>
                          <a:effectLst/>
                        </a:rPr>
                        <a:t>單位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b="0" i="0">
                          <a:solidFill>
                            <a:srgbClr val="000000"/>
                          </a:solidFill>
                          <a:effectLst/>
                        </a:rPr>
                        <a:t>Hz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b="0" i="0">
                          <a:solidFill>
                            <a:srgbClr val="000000"/>
                          </a:solidFill>
                          <a:effectLst/>
                        </a:rPr>
                        <a:t>bit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27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b="0" i="0">
                          <a:solidFill>
                            <a:srgbClr val="000000"/>
                          </a:solidFill>
                          <a:effectLst/>
                        </a:rPr>
                        <a:t>例如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b="0" i="0">
                          <a:solidFill>
                            <a:srgbClr val="000000"/>
                          </a:solidFill>
                          <a:effectLst/>
                        </a:rPr>
                        <a:t>16 kHz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b="0" i="0" dirty="0">
                          <a:solidFill>
                            <a:srgbClr val="000000"/>
                          </a:solidFill>
                          <a:effectLst/>
                        </a:rPr>
                        <a:t>16 bit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424457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838200" y="5309707"/>
            <a:ext cx="106816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Oversampling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OSR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超取樣比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過取樣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率</a:t>
            </a:r>
            <a:endParaRPr lang="en-US" altLang="zh-TW" sz="16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定義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：硬體晶片「實際運作的超高取樣頻率」與「目標取樣率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(SR)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」之間的倍數比值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舉例：如果一張音效卡最終輸出是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44.1 kHz (SR)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，但它內部的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DAC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晶片實際上是用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64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倍的速度（約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2.82 MHz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）在處理音訊，那麼這個晶片的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$OSR = 64$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895" y="5669656"/>
            <a:ext cx="1949550" cy="40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51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SR</a:t>
            </a:r>
            <a:r>
              <a:rPr lang="zh-TW" altLang="en-US" dirty="0" smtClean="0"/>
              <a:t> </a:t>
            </a:r>
            <a:r>
              <a:rPr lang="en-US" altLang="zh-TW" dirty="0" smtClean="0"/>
              <a:t>&amp;</a:t>
            </a:r>
            <a:r>
              <a:rPr lang="zh-TW" altLang="en-US" dirty="0" smtClean="0"/>
              <a:t> </a:t>
            </a:r>
            <a:r>
              <a:rPr lang="en-US" altLang="zh-TW" dirty="0" smtClean="0"/>
              <a:t>OSR</a:t>
            </a:r>
            <a:endParaRPr lang="zh-TW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515600" cy="4724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為什麼不直接用 SR 來錄音或播放就好，還要大費周章在硬體內部搞一個極高的 OSR？這與</a:t>
            </a: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hlinkClick r:id="rId2" action="ppaction://hlinksldjump"/>
              </a:rPr>
              <a:t>Filter</a:t>
            </a: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 </a:t>
            </a: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、</a:t>
            </a: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hlinkClick r:id="rId3" action="ppaction://hlinksldjump"/>
              </a:rPr>
              <a:t>SNR</a:t>
            </a: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 </a:t>
            </a: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以及硬體成本有著極深的連動關係：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關係一：拯救類比濾波器（解決混疊現象）</a:t>
            </a:r>
            <a:endParaRPr kumimoji="0" lang="zh-TW" altLang="zh-TW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在將類比聲音轉成數位（或數位轉類比）的邊界上，必須有一道「抗混疊濾波器 (Anti-aliasing Filter)」。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如果只有 SR</a:t>
            </a: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：要精準切掉 22.05 kHz 以上的雜訊，同時完美保留 20 kHz 的人耳極限高音，這個類比濾波器必須設計得非常「陡峭」。物理上，這種極端的類比濾波器極度昂貴，且會嚴重破壞聲音的 </a:t>
            </a: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hlinkClick r:id="rId4" action="ppaction://hlinksldjump"/>
              </a:rPr>
              <a:t>Phase</a:t>
            </a: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 </a:t>
            </a: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加入 OSR 後</a:t>
            </a: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：晶片先用 64 倍的超高頻率（如 2.8 MHz）把聲音吃進來。這時頻寬被拉得非常寬，硬體只需要一個非常便宜、平緩的類比濾波器即可。接著，晶片內部再利用運算強大且不會破壞相位的 </a:t>
            </a: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hlinkClick r:id="rId5" action="ppaction://hlinksldjump"/>
              </a:rPr>
              <a:t>FIR</a:t>
            </a: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 數位濾波器</a:t>
            </a: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，輕鬆把多餘的高頻雜訊切除，最後降頻回 44.1 kHz (SR)。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關係二：雜訊整形 (Noise Shaping) 與提升 SNR</a:t>
            </a:r>
            <a:endParaRPr kumimoji="0" lang="zh-TW" altLang="zh-TW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這是在現代 Delta-Sigma 音訊晶片中，SR 與 OSR 聯手發揮的最大魔法。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當聲音被數位化時，必然會產生微小的誤差雜訊（量化雜訊）。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透過將取樣率拉高到 </a:t>
            </a: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OSR</a:t>
            </a: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 的倍數，總雜訊量雖然不變，但會被「攤平」分佈到非常寬廣的高頻區域（遠超出人耳聽覺範圍）。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接著使用雜訊整形技術，把人耳敏感的低中頻雜訊，全部往超高頻區域推擠。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最後，用數位濾波器把那些超高頻的雜訊全部切掉，再降回目標 </a:t>
            </a: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SR</a:t>
            </a: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結果</a:t>
            </a: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：留下來的音訊，其背景雜訊極低，</a:t>
            </a:r>
            <a:r>
              <a:rPr kumimoji="0" lang="zh-TW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SNR </a:t>
            </a: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</a:rPr>
              <a:t>大幅提升。這也是為什麼現代手機或平價錄音介面，即使不用昂貴的類比零件，也能達到極高音質的原因。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3611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另一個 </a:t>
            </a:r>
            <a:r>
              <a:rPr lang="en-US" altLang="zh-TW" dirty="0"/>
              <a:t>SR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OSR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600" dirty="0" smtClean="0"/>
              <a:t>若是</a:t>
            </a:r>
            <a:r>
              <a:rPr lang="zh-TW" altLang="en-US" sz="1600" dirty="0"/>
              <a:t>在「語音</a:t>
            </a:r>
            <a:r>
              <a:rPr lang="en-US" altLang="zh-TW" sz="1600" dirty="0"/>
              <a:t>AI</a:t>
            </a:r>
            <a:r>
              <a:rPr lang="zh-TW" altLang="en-US" sz="1600" dirty="0"/>
              <a:t>模型」的脈絡下看到這兩個詞：</a:t>
            </a:r>
          </a:p>
          <a:p>
            <a:r>
              <a:rPr lang="en-US" altLang="zh-TW" sz="1600" b="1" dirty="0"/>
              <a:t>SR</a:t>
            </a:r>
            <a:r>
              <a:rPr lang="en-US" altLang="zh-TW" sz="1600" dirty="0"/>
              <a:t> </a:t>
            </a:r>
            <a:r>
              <a:rPr lang="zh-TW" altLang="en-US" sz="1600" dirty="0" smtClean="0"/>
              <a:t>指 </a:t>
            </a:r>
            <a:r>
              <a:rPr lang="en-US" altLang="zh-TW" sz="1600" b="1" dirty="0"/>
              <a:t>Speech Recognition (</a:t>
            </a:r>
            <a:r>
              <a:rPr lang="zh-TW" altLang="en-US" sz="1600" b="1" dirty="0"/>
              <a:t>語音辨識</a:t>
            </a:r>
            <a:r>
              <a:rPr lang="en-US" altLang="zh-TW" sz="1600" b="1" dirty="0" smtClean="0"/>
              <a:t>)</a:t>
            </a:r>
            <a:endParaRPr lang="zh-TW" altLang="en-US" sz="1600" dirty="0"/>
          </a:p>
          <a:p>
            <a:r>
              <a:rPr lang="en-US" altLang="zh-TW" sz="1600" b="1" dirty="0"/>
              <a:t>OSR</a:t>
            </a:r>
            <a:r>
              <a:rPr lang="en-US" altLang="zh-TW" sz="1600" dirty="0"/>
              <a:t> </a:t>
            </a:r>
            <a:r>
              <a:rPr lang="zh-TW" altLang="en-US" sz="1600" dirty="0" smtClean="0"/>
              <a:t>指 </a:t>
            </a:r>
            <a:r>
              <a:rPr lang="en-US" altLang="zh-TW" sz="1600" b="1" dirty="0"/>
              <a:t>Offline Speech Recognition (</a:t>
            </a:r>
            <a:r>
              <a:rPr lang="zh-TW" altLang="en-US" sz="1600" b="1" dirty="0"/>
              <a:t>離線語音辨識</a:t>
            </a:r>
            <a:r>
              <a:rPr lang="en-US" altLang="zh-TW" sz="1600" b="1" dirty="0"/>
              <a:t>)</a:t>
            </a:r>
            <a:r>
              <a:rPr lang="zh-TW" altLang="en-US" sz="1600" dirty="0"/>
              <a:t>，或是 </a:t>
            </a:r>
            <a:r>
              <a:rPr lang="en-US" altLang="zh-TW" sz="1600" b="1" dirty="0"/>
              <a:t>Open-vocabulary Speech Recognition (</a:t>
            </a:r>
            <a:r>
              <a:rPr lang="zh-TW" altLang="en-US" sz="1600" b="1" dirty="0"/>
              <a:t>開放詞彙語音辨識</a:t>
            </a:r>
            <a:r>
              <a:rPr lang="en-US" altLang="zh-TW" sz="1600" b="1" dirty="0"/>
              <a:t>)</a:t>
            </a:r>
            <a:r>
              <a:rPr lang="zh-TW" altLang="en-US" sz="1600" dirty="0" smtClean="0"/>
              <a:t>。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95988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bit depth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zh-TW" altLang="en-US" sz="1600" dirty="0"/>
                  <a:t>中文</a:t>
                </a:r>
                <a:r>
                  <a:rPr lang="en-US" altLang="zh-TW" sz="1600" dirty="0"/>
                  <a:t>:</a:t>
                </a:r>
                <a:r>
                  <a:rPr lang="zh-TW" altLang="en-US" sz="1600" dirty="0"/>
                  <a:t>位元深度</a:t>
                </a:r>
                <a:endParaRPr lang="en-US" altLang="zh-TW" sz="1600" dirty="0"/>
              </a:p>
              <a:p>
                <a:r>
                  <a:rPr lang="zh-TW" altLang="en-US" sz="1600" dirty="0"/>
                  <a:t>概述</a:t>
                </a:r>
                <a:r>
                  <a:rPr lang="en-US" altLang="zh-TW" sz="1600" dirty="0"/>
                  <a:t>:</a:t>
                </a:r>
              </a:p>
              <a:p>
                <a:pPr lvl="1"/>
                <a:r>
                  <a:rPr lang="zh-TW" altLang="en-US" sz="1600" dirty="0"/>
                  <a:t>每次取樣時，用多少位元 </a:t>
                </a:r>
                <a:r>
                  <a:rPr lang="en-US" altLang="zh-TW" sz="1600" dirty="0"/>
                  <a:t>(bits) </a:t>
                </a:r>
                <a:r>
                  <a:rPr lang="zh-TW" altLang="en-US" sz="1600" dirty="0"/>
                  <a:t>來記錄聲音的振幅資料。常見為 </a:t>
                </a:r>
                <a:r>
                  <a:rPr lang="en-US" altLang="zh-TW" sz="1600" dirty="0"/>
                  <a:t>16-bit </a:t>
                </a:r>
                <a:r>
                  <a:rPr lang="zh-TW" altLang="en-US" sz="1600" dirty="0"/>
                  <a:t>或 </a:t>
                </a:r>
                <a:r>
                  <a:rPr lang="en-US" altLang="zh-TW" sz="1600" dirty="0"/>
                  <a:t>24-bit</a:t>
                </a:r>
                <a:r>
                  <a:rPr lang="zh-TW" altLang="en-US" sz="1600" dirty="0"/>
                  <a:t>。位元深度越高，聲音的動態範圍（最大聲與最小聲的差距）越廣，細節越豐富。</a:t>
                </a:r>
                <a:endParaRPr lang="en-US" altLang="zh-TW" sz="1600" dirty="0"/>
              </a:p>
              <a:p>
                <a:pPr lvl="1"/>
                <a:r>
                  <a:rPr lang="zh-TW" altLang="en-US" sz="1600" dirty="0"/>
                  <a:t>決定：</a:t>
                </a:r>
                <a:r>
                  <a:rPr lang="zh-TW" altLang="zh-TW" sz="1600" dirty="0"/>
                  <a:t>「聲音大小記錄得多細」</a:t>
                </a:r>
                <a:endParaRPr lang="en-US" altLang="zh-TW" sz="1600" dirty="0"/>
              </a:p>
              <a:p>
                <a:r>
                  <a:rPr lang="zh-TW" altLang="en-US" sz="1600" dirty="0"/>
                  <a:t>例子：</a:t>
                </a:r>
                <a:endParaRPr lang="en-US" altLang="zh-TW" sz="1600" dirty="0"/>
              </a:p>
              <a:p>
                <a:pPr lvl="1"/>
                <a:r>
                  <a:rPr lang="zh-TW" altLang="zh-TW" sz="1600" b="1" dirty="0"/>
                  <a:t>8-bit</a:t>
                </a:r>
                <a:r>
                  <a:rPr lang="zh-TW" altLang="en-US" sz="1600" b="1" dirty="0"/>
                  <a:t> </a:t>
                </a:r>
                <a:r>
                  <a:rPr lang="zh-TW" altLang="zh-TW" sz="1600" dirty="0"/>
                  <a:t>可以表示：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zh-TW" sz="1600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r>
                  <a:rPr lang="zh-TW" altLang="en-US" sz="1600" dirty="0"/>
                  <a:t> </a:t>
                </a:r>
                <a:r>
                  <a:rPr lang="zh-TW" altLang="zh-TW" sz="1600" dirty="0"/>
                  <a:t>個不同振幅。</a:t>
                </a:r>
              </a:p>
              <a:p>
                <a:pPr lvl="1"/>
                <a:r>
                  <a:rPr lang="zh-TW" altLang="zh-TW" sz="1600" b="1" dirty="0"/>
                  <a:t>16-bit</a:t>
                </a:r>
                <a:r>
                  <a:rPr lang="zh-TW" altLang="en-US" sz="1600" b="1" dirty="0"/>
                  <a:t> </a:t>
                </a:r>
                <a:r>
                  <a:rPr lang="zh-TW" altLang="zh-TW" sz="1600" dirty="0"/>
                  <a:t>可以表示：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US" altLang="zh-TW" sz="1600">
                        <a:latin typeface="Cambria Math" panose="02040503050406030204" pitchFamily="18" charset="0"/>
                      </a:rPr>
                      <m:t>=65536</m:t>
                    </m:r>
                  </m:oMath>
                </a14:m>
                <a:r>
                  <a:rPr lang="zh-TW" altLang="en-US" sz="1600" dirty="0"/>
                  <a:t> </a:t>
                </a:r>
                <a:r>
                  <a:rPr lang="zh-TW" altLang="zh-TW" sz="1600" dirty="0"/>
                  <a:t>個不同振幅。</a:t>
                </a:r>
              </a:p>
              <a:p>
                <a:pPr lvl="1"/>
                <a:r>
                  <a:rPr lang="zh-TW" altLang="zh-TW" sz="1600" dirty="0"/>
                  <a:t>Bit Depth 越高：聲音</a:t>
                </a:r>
                <a:r>
                  <a:rPr lang="zh-TW" altLang="zh-TW" sz="1600" dirty="0">
                    <a:solidFill>
                      <a:srgbClr val="FF0000"/>
                    </a:solidFill>
                  </a:rPr>
                  <a:t>振幅</a:t>
                </a:r>
                <a:r>
                  <a:rPr lang="zh-TW" altLang="zh-TW" sz="1600" dirty="0"/>
                  <a:t>的解析度越細。</a:t>
                </a:r>
              </a:p>
              <a:p>
                <a:endParaRPr lang="en-US" altLang="zh-TW" sz="1600" dirty="0"/>
              </a:p>
              <a:p>
                <a:pPr lvl="1"/>
                <a:endParaRPr lang="zh-TW" altLang="en-US" sz="16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2" t="-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圓角矩形 3">
            <a:hlinkClick r:id="rId3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46B493A-2E94-087A-D5A5-97959A16BE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168" y="2928005"/>
            <a:ext cx="2559146" cy="36781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1207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channel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/>
              <a:t>:</a:t>
            </a:r>
            <a:r>
              <a:rPr lang="zh-TW" altLang="en-US" sz="1600" dirty="0"/>
              <a:t>聲道</a:t>
            </a:r>
            <a:endParaRPr lang="en-US" altLang="zh-TW" sz="1600" dirty="0"/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</a:t>
            </a:r>
          </a:p>
          <a:p>
            <a:pPr lvl="1"/>
            <a:r>
              <a:rPr lang="zh-TW" altLang="en-US" sz="1600" dirty="0"/>
              <a:t>獨立音訊訊號的數量。</a:t>
            </a:r>
            <a:r>
              <a:rPr lang="en-US" altLang="zh-TW" sz="1600" dirty="0"/>
              <a:t>1 </a:t>
            </a:r>
            <a:r>
              <a:rPr lang="zh-TW" altLang="en-US" sz="1600" dirty="0"/>
              <a:t>個聲道稱為單聲道 </a:t>
            </a:r>
            <a:r>
              <a:rPr lang="en-US" altLang="zh-TW" sz="1600" dirty="0"/>
              <a:t>(Mono)</a:t>
            </a:r>
            <a:r>
              <a:rPr lang="zh-TW" altLang="en-US" sz="1600" dirty="0"/>
              <a:t>，</a:t>
            </a:r>
            <a:r>
              <a:rPr lang="en-US" altLang="zh-TW" sz="1600" dirty="0"/>
              <a:t>2 </a:t>
            </a:r>
            <a:r>
              <a:rPr lang="zh-TW" altLang="en-US" sz="1600" dirty="0"/>
              <a:t>個聲道稱為立體聲 </a:t>
            </a:r>
            <a:r>
              <a:rPr lang="en-US" altLang="zh-TW" sz="1600" dirty="0"/>
              <a:t>(Stereo)</a:t>
            </a:r>
            <a:r>
              <a:rPr lang="zh-TW" altLang="en-US" sz="1600" dirty="0"/>
              <a:t>。</a:t>
            </a:r>
            <a:endParaRPr lang="en-US" altLang="zh-TW" sz="1600" dirty="0"/>
          </a:p>
          <a:p>
            <a:pPr lvl="1"/>
            <a:r>
              <a:rPr lang="zh-TW" altLang="zh-TW" sz="1600" dirty="0"/>
              <a:t>同一段音訊裡，有幾組獨立的聲音訊號</a:t>
            </a:r>
            <a:endParaRPr lang="en-US" altLang="zh-TW" sz="1600" dirty="0"/>
          </a:p>
          <a:p>
            <a:endParaRPr lang="zh-TW" altLang="en-US" sz="2000" dirty="0"/>
          </a:p>
        </p:txBody>
      </p:sp>
      <p:sp>
        <p:nvSpPr>
          <p:cNvPr id="4" name="圓角矩形 3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F6FD751-5E67-0F80-3911-0D2FB4B1A8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873" y="3118791"/>
            <a:ext cx="1609548" cy="2423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092608A-7307-4199-AB73-FD9BCDA7C5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273" y="3118791"/>
            <a:ext cx="1939555" cy="36331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78D8C34-58F2-1D19-F30F-44214097C7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188" y="3118791"/>
            <a:ext cx="1867870" cy="28248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763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wav format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/>
              <a:t>:WAV </a:t>
            </a:r>
            <a:r>
              <a:rPr lang="zh-TW" altLang="en-US" sz="1600" dirty="0"/>
              <a:t>格式</a:t>
            </a:r>
            <a:endParaRPr lang="en-US" altLang="zh-TW" sz="1600" dirty="0"/>
          </a:p>
          <a:p>
            <a:r>
              <a:rPr lang="zh-TW" altLang="en-US" sz="1600" dirty="0"/>
              <a:t>英文</a:t>
            </a:r>
            <a:r>
              <a:rPr lang="en-US" altLang="zh-TW" sz="1600" dirty="0"/>
              <a:t>:Waveform Audio File Format</a:t>
            </a:r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</a:t>
            </a:r>
          </a:p>
          <a:p>
            <a:pPr lvl="1"/>
            <a:r>
              <a:rPr lang="zh-TW" altLang="en-US" sz="1600" dirty="0"/>
              <a:t>是微軟與 </a:t>
            </a:r>
            <a:r>
              <a:rPr lang="en-US" altLang="zh-TW" sz="1600" dirty="0"/>
              <a:t>IBM </a:t>
            </a:r>
            <a:r>
              <a:rPr lang="zh-TW" altLang="en-US" sz="1600" dirty="0"/>
              <a:t>開發的標準無損音訊檔案格式。它通常不會對聲音進行壓縮，直接儲存上述「取樣率、位元深度、聲道」所定義的原始音訊數據。</a:t>
            </a:r>
            <a:endParaRPr lang="en-US" altLang="zh-TW" sz="1600" dirty="0"/>
          </a:p>
          <a:p>
            <a:pPr lvl="1"/>
            <a:r>
              <a:rPr lang="zh-TW" altLang="zh-TW" sz="1600" dirty="0"/>
              <a:t>準確地說，是一種 audio container format（音訊容器格式）</a:t>
            </a:r>
            <a:endParaRPr lang="en-US" altLang="zh-TW" sz="1600" dirty="0"/>
          </a:p>
          <a:p>
            <a:endParaRPr lang="zh-TW" altLang="en-US" sz="1600" dirty="0"/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24A35A3-88FB-F52C-C216-586FFD508C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295" y="3195092"/>
            <a:ext cx="2280102" cy="36101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4323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Spectrum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/>
              <a:t>:</a:t>
            </a:r>
            <a:r>
              <a:rPr lang="zh-TW" altLang="en-US" sz="1600" dirty="0"/>
              <a:t>頻譜</a:t>
            </a:r>
            <a:endParaRPr lang="en-US" altLang="zh-TW" sz="1600" dirty="0"/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</a:t>
            </a:r>
            <a:r>
              <a:rPr lang="zh-TW" altLang="en-US" sz="1600" dirty="0"/>
              <a:t>聲音從「時間域（時間</a:t>
            </a:r>
            <a:r>
              <a:rPr lang="en-US" altLang="zh-TW" sz="1600" dirty="0"/>
              <a:t>-</a:t>
            </a:r>
            <a:r>
              <a:rPr lang="zh-TW" altLang="en-US" sz="1600" dirty="0"/>
              <a:t>振幅）」轉換到「頻率域（頻率</a:t>
            </a:r>
            <a:r>
              <a:rPr lang="en-US" altLang="zh-TW" sz="1600" dirty="0"/>
              <a:t>-</a:t>
            </a:r>
            <a:r>
              <a:rPr lang="zh-TW" altLang="en-US" sz="1600" dirty="0"/>
              <a:t>能量）」的表示法。它能告訴我們一段聲音中，包含了哪些頻率，以及各頻率的強度。</a:t>
            </a:r>
            <a:r>
              <a:rPr lang="en-US" altLang="zh-TW" sz="1600" dirty="0"/>
              <a:t>(</a:t>
            </a:r>
            <a:r>
              <a:rPr lang="zh-TW" altLang="zh-TW" sz="1600" dirty="0"/>
              <a:t>把聲音從「時間的角度」換成「頻率的角度」來看</a:t>
            </a:r>
            <a:r>
              <a:rPr lang="en-US" altLang="zh-TW" sz="1600" dirty="0"/>
              <a:t>)</a:t>
            </a:r>
            <a:endParaRPr lang="zh-TW" altLang="en-US" sz="1600" dirty="0"/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44A883D-D0E9-B377-69F9-CDE94ACBE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667" y="3077737"/>
            <a:ext cx="1854141" cy="323416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3C2D86D3-B678-5A57-6FC5-0B59E2640345}"/>
              </a:ext>
            </a:extLst>
          </p:cNvPr>
          <p:cNvCxnSpPr>
            <a:stCxn id="8" idx="3"/>
          </p:cNvCxnSpPr>
          <p:nvPr/>
        </p:nvCxnSpPr>
        <p:spPr>
          <a:xfrm flipV="1">
            <a:off x="3049808" y="4694818"/>
            <a:ext cx="123980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3AC97E0-1F6D-97AD-ACA6-7537946DF4D2}"/>
              </a:ext>
            </a:extLst>
          </p:cNvPr>
          <p:cNvSpPr txBox="1"/>
          <p:nvPr/>
        </p:nvSpPr>
        <p:spPr>
          <a:xfrm>
            <a:off x="3049808" y="4092498"/>
            <a:ext cx="11597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Fourier Transform </a:t>
            </a:r>
            <a:endParaRPr kumimoji="1" lang="zh-TW" altLang="en-US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CEA58E8A-C168-B8D7-1CDC-894C347344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612" y="3077737"/>
            <a:ext cx="2207855" cy="32341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7A3ADE81-687D-EA85-6FA3-3B2F66C4C6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941" y="2776403"/>
            <a:ext cx="1813181" cy="1449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AE8DC99E-688C-F580-7335-2488990DFB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941" y="4252829"/>
            <a:ext cx="1819171" cy="25603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9245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STFT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/>
              <a:t>:</a:t>
            </a:r>
            <a:r>
              <a:rPr lang="zh-TW" altLang="en-US" sz="1600" dirty="0"/>
              <a:t>短時距傅立葉變換</a:t>
            </a:r>
            <a:endParaRPr lang="en-US" altLang="zh-TW" sz="1600" dirty="0"/>
          </a:p>
          <a:p>
            <a:r>
              <a:rPr lang="zh-TW" altLang="en-US" sz="1600" dirty="0"/>
              <a:t>英文</a:t>
            </a:r>
            <a:r>
              <a:rPr lang="en-US" altLang="zh-TW" sz="1600" dirty="0"/>
              <a:t>:Short-Time Fourier Transform</a:t>
            </a:r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</a:t>
            </a:r>
            <a:r>
              <a:rPr lang="zh-TW" altLang="en-US" sz="1600" dirty="0"/>
              <a:t>一種數學演算法。因為聲音的頻譜是隨時間不斷變化的，</a:t>
            </a:r>
            <a:r>
              <a:rPr lang="en-US" altLang="zh-TW" sz="1600" dirty="0"/>
              <a:t>STFT </a:t>
            </a:r>
            <a:r>
              <a:rPr lang="zh-TW" altLang="en-US" sz="1600" dirty="0"/>
              <a:t>藉由將長音訊切成許多極短的時間窗 </a:t>
            </a:r>
            <a:r>
              <a:rPr lang="en-US" altLang="zh-TW" sz="1600" dirty="0"/>
              <a:t>(Frame)</a:t>
            </a:r>
            <a:r>
              <a:rPr lang="zh-TW" altLang="en-US" sz="1600" dirty="0"/>
              <a:t>，對每一小段做傅立葉變換，藉此觀察聲音頻率隨「時間」的變化過程。</a:t>
            </a:r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88E29AD-F7BD-E62E-C80E-CDCE19DFD8C1}"/>
              </a:ext>
            </a:extLst>
          </p:cNvPr>
          <p:cNvSpPr txBox="1"/>
          <p:nvPr/>
        </p:nvSpPr>
        <p:spPr>
          <a:xfrm>
            <a:off x="838200" y="4517367"/>
            <a:ext cx="6110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普通 Fourier Transform</a:t>
            </a:r>
            <a:r>
              <a:rPr lang="zh-TW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：</a:t>
            </a:r>
            <a:r>
              <a:rPr lang="zh-TW" altLang="zh-TW" dirty="0"/>
              <a:t>時間資訊不見</a:t>
            </a:r>
            <a:r>
              <a:rPr lang="zh-TW" altLang="zh-TW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25FBC38-485A-BC0A-B518-D2C599248255}"/>
              </a:ext>
            </a:extLst>
          </p:cNvPr>
          <p:cNvCxnSpPr>
            <a:cxnSpLocks/>
          </p:cNvCxnSpPr>
          <p:nvPr/>
        </p:nvCxnSpPr>
        <p:spPr>
          <a:xfrm>
            <a:off x="838200" y="4382429"/>
            <a:ext cx="52578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圖片 9">
            <a:extLst>
              <a:ext uri="{FF2B5EF4-FFF2-40B4-BE49-F238E27FC236}">
                <a16:creationId xmlns:a16="http://schemas.microsoft.com/office/drawing/2014/main" id="{ACF23F3A-DCFA-022F-1CC2-3AB01D4C3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021636"/>
            <a:ext cx="2284141" cy="16007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A78EDE7-C71C-1529-2328-85A7A60ABD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2732" y="3066524"/>
            <a:ext cx="2892799" cy="1818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202D8F90-7AF8-FDE8-3B8A-F673C4A1CB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022" y="3066524"/>
            <a:ext cx="2620103" cy="30071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8766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Magnitude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/>
              <a:t>:</a:t>
            </a:r>
            <a:r>
              <a:rPr lang="zh-TW" altLang="en-US" sz="1600" dirty="0"/>
              <a:t>振幅 </a:t>
            </a:r>
            <a:r>
              <a:rPr lang="en-US" altLang="zh-TW" sz="1600" dirty="0"/>
              <a:t>/ </a:t>
            </a:r>
            <a:r>
              <a:rPr lang="zh-TW" altLang="en-US" sz="1600" dirty="0"/>
              <a:t>大小</a:t>
            </a:r>
            <a:endParaRPr lang="en-US" altLang="zh-TW" sz="1600" dirty="0"/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:STFT </a:t>
            </a:r>
            <a:r>
              <a:rPr lang="zh-TW" altLang="en-US" sz="1600" dirty="0"/>
              <a:t>轉換後得到的複數結果的絕對值，代表每個頻率成分的「能量」或「音量大小」。人耳對振幅的變化非常敏感。</a:t>
            </a:r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3361B19-5BFF-6E74-2914-64B6AD79DF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72" y="2985292"/>
            <a:ext cx="3386099" cy="35737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8EA1ED2-EBC1-D590-A42C-46B89365C3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677" y="2985292"/>
            <a:ext cx="3662985" cy="27352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5094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Phase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/>
              <a:t>:</a:t>
            </a:r>
            <a:r>
              <a:rPr lang="zh-TW" altLang="en-US" sz="1600" dirty="0"/>
              <a:t>相位</a:t>
            </a:r>
            <a:endParaRPr lang="en-US" altLang="zh-TW" sz="1600" dirty="0"/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</a:t>
            </a:r>
          </a:p>
          <a:p>
            <a:pPr lvl="1"/>
            <a:r>
              <a:rPr lang="en-US" altLang="zh-TW" sz="1600" dirty="0"/>
              <a:t>STFT </a:t>
            </a:r>
            <a:r>
              <a:rPr lang="zh-TW" altLang="en-US" sz="1600" dirty="0"/>
              <a:t>轉換後得到的複數結果的角度，描述波形在一個週期中起始的位置。雖然人耳單獨對相位較不敏感，但在多個聲音疊加（如抗噪、波束成型）或還原聲音時，相位資料至關重要。</a:t>
            </a:r>
            <a:endParaRPr lang="en-US" altLang="zh-TW" sz="1600" dirty="0"/>
          </a:p>
          <a:p>
            <a:pPr lvl="1"/>
            <a:r>
              <a:rPr lang="zh-TW" altLang="zh-TW" sz="1600" dirty="0"/>
              <a:t>波形在週期中的位置</a:t>
            </a:r>
            <a:endParaRPr lang="zh-TW" altLang="en-US" sz="1600" dirty="0"/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9D6EA0A-DB3B-E923-0237-EB52EE5049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864" y="3428999"/>
            <a:ext cx="3407028" cy="30638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6FD4BC4-31DD-6706-F830-4BC52D3204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656" y="3428999"/>
            <a:ext cx="2681968" cy="3429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5E9E14A1-D8B3-EC07-4AF2-4686687BDE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388" y="3428999"/>
            <a:ext cx="2668303" cy="30638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23973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Filter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/>
              <a:t>:</a:t>
            </a:r>
            <a:r>
              <a:rPr lang="zh-TW" altLang="en-US" sz="1600" dirty="0"/>
              <a:t>濾波器</a:t>
            </a:r>
            <a:endParaRPr lang="en-US" altLang="zh-TW" sz="1600" dirty="0"/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</a:t>
            </a:r>
            <a:r>
              <a:rPr lang="zh-TW" altLang="en-US" sz="1600" dirty="0"/>
              <a:t>用來保留音訊中想要的頻率，並消除不想要的頻率的工具或演算法。例如「低通濾波器」只讓低頻通過，過濾掉高頻雜訊。</a:t>
            </a:r>
            <a:endParaRPr lang="en-US" altLang="zh-TW" sz="1600" dirty="0"/>
          </a:p>
          <a:p>
            <a:r>
              <a:rPr lang="zh-TW" altLang="en-US" sz="1600" dirty="0"/>
              <a:t>例子</a:t>
            </a:r>
            <a:r>
              <a:rPr lang="zh-TW" altLang="en-US" sz="1600" dirty="0">
                <a:sym typeface="Wingdings" pitchFamily="2" charset="2"/>
              </a:rPr>
              <a:t>：</a:t>
            </a:r>
            <a:r>
              <a:rPr lang="zh-TW" altLang="en-US" sz="1600" dirty="0"/>
              <a:t>常見四個</a:t>
            </a:r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2C1B20E-F773-C8B0-70F7-90F981D854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559" y="3572025"/>
            <a:ext cx="2307685" cy="30341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86F2DE5-7C91-B6BD-552E-A621319D6B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430" y="3572025"/>
            <a:ext cx="2352609" cy="260125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CD98D7D-E073-7A0C-4928-82BB000B3D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225" y="3572025"/>
            <a:ext cx="2152908" cy="18874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DCBC1CF4-6C72-BBF4-546D-046284951B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319" y="3572025"/>
            <a:ext cx="2249469" cy="27398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文字方塊 2"/>
          <p:cNvSpPr txBox="1"/>
          <p:nvPr/>
        </p:nvSpPr>
        <p:spPr>
          <a:xfrm>
            <a:off x="4380056" y="3202693"/>
            <a:ext cx="863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HPF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760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FIR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/>
              <a:t>:</a:t>
            </a:r>
            <a:r>
              <a:rPr lang="zh-TW" altLang="en-US" sz="1600" dirty="0"/>
              <a:t>有限脈衝響應</a:t>
            </a:r>
            <a:r>
              <a:rPr lang="zh-TW" altLang="zh-TW" sz="1600" dirty="0"/>
              <a:t>濾波器</a:t>
            </a:r>
            <a:endParaRPr lang="en-US" altLang="zh-TW" sz="1600" dirty="0"/>
          </a:p>
          <a:p>
            <a:r>
              <a:rPr lang="zh-TW" altLang="en-US" sz="1600" dirty="0"/>
              <a:t>英文</a:t>
            </a:r>
            <a:r>
              <a:rPr lang="en-US" altLang="zh-TW" sz="1600" dirty="0"/>
              <a:t>:Finite Impulse Response</a:t>
            </a:r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</a:t>
            </a:r>
            <a:r>
              <a:rPr lang="zh-TW" altLang="en-US" sz="1600" dirty="0"/>
              <a:t>一種數位濾波器。特點是輸出不會回饋到輸入，因此對單一脈衝的反應在有限時間內就會結束。</a:t>
            </a:r>
            <a:endParaRPr lang="en-US" altLang="zh-TW" sz="1600" dirty="0"/>
          </a:p>
          <a:p>
            <a:pPr lvl="1"/>
            <a:r>
              <a:rPr lang="zh-TW" altLang="en-US" sz="1600" dirty="0"/>
              <a:t>優點</a:t>
            </a:r>
            <a:r>
              <a:rPr lang="en-US" altLang="zh-TW" sz="1600" dirty="0"/>
              <a:t>:</a:t>
            </a:r>
          </a:p>
          <a:p>
            <a:pPr lvl="2"/>
            <a:r>
              <a:rPr lang="zh-TW" altLang="en-US" sz="1600" dirty="0"/>
              <a:t>可以做到「線性相位」（不會讓聲音頻率產生時間差變形）</a:t>
            </a:r>
            <a:endParaRPr lang="en-US" altLang="zh-TW" sz="1600" dirty="0"/>
          </a:p>
          <a:p>
            <a:pPr lvl="2"/>
            <a:r>
              <a:rPr lang="zh-TW" altLang="zh-TW" sz="1600" dirty="0"/>
              <a:t>容易設計成 Linear Phase</a:t>
            </a:r>
            <a:endParaRPr lang="en-US" altLang="zh-TW" sz="1600" dirty="0"/>
          </a:p>
          <a:p>
            <a:pPr lvl="2"/>
            <a:r>
              <a:rPr lang="zh-TW" altLang="zh-TW" sz="1600" dirty="0"/>
              <a:t>穩定性很好</a:t>
            </a:r>
            <a:endParaRPr lang="en-US" altLang="zh-TW" sz="1600" dirty="0"/>
          </a:p>
          <a:p>
            <a:pPr lvl="1"/>
            <a:r>
              <a:rPr lang="zh-TW" altLang="en-US" sz="1600" dirty="0"/>
              <a:t>缺點</a:t>
            </a:r>
            <a:r>
              <a:rPr lang="en-US" altLang="zh-TW" sz="1600" dirty="0"/>
              <a:t>:</a:t>
            </a:r>
            <a:r>
              <a:rPr lang="zh-TW" altLang="en-US" sz="1600" dirty="0"/>
              <a:t>計算量較大</a:t>
            </a:r>
            <a:r>
              <a:rPr lang="en-US" altLang="zh-TW" sz="1600" dirty="0"/>
              <a:t>(</a:t>
            </a:r>
            <a:r>
              <a:rPr lang="zh-TW" altLang="zh-TW" sz="1600" dirty="0"/>
              <a:t>但是可能需要很多 coefficients</a:t>
            </a:r>
            <a:r>
              <a:rPr lang="en-US" altLang="zh-TW" sz="1600" dirty="0"/>
              <a:t>)</a:t>
            </a:r>
            <a:endParaRPr lang="zh-TW" altLang="zh-TW" sz="1600" dirty="0"/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1ED71C8-DA40-05E1-EF92-692E9A2660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129" y="3019801"/>
            <a:ext cx="3669201" cy="37854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C475EB3-CB44-D2E3-D2A1-D245D1872C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592" y="4552576"/>
            <a:ext cx="3135032" cy="22526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6811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IIR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/>
              <a:t>:</a:t>
            </a:r>
            <a:r>
              <a:rPr lang="zh-TW" altLang="en-US" sz="1600" dirty="0"/>
              <a:t>無限脈衝響應</a:t>
            </a:r>
            <a:r>
              <a:rPr lang="zh-TW" altLang="zh-TW" sz="1600" dirty="0"/>
              <a:t>濾波器</a:t>
            </a:r>
            <a:endParaRPr lang="en-US" altLang="zh-TW" sz="1600" dirty="0"/>
          </a:p>
          <a:p>
            <a:r>
              <a:rPr lang="zh-TW" altLang="en-US" sz="1600" dirty="0"/>
              <a:t>英文</a:t>
            </a:r>
            <a:r>
              <a:rPr lang="en-US" altLang="zh-TW" sz="1600" dirty="0"/>
              <a:t>: Infinite Impulse Response</a:t>
            </a:r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</a:t>
            </a:r>
            <a:r>
              <a:rPr lang="zh-TW" altLang="en-US" sz="1600" dirty="0"/>
              <a:t>另一種數位濾波器。它帶有「回饋」</a:t>
            </a:r>
            <a:r>
              <a:rPr lang="en-US" altLang="zh-TW" sz="1600" dirty="0"/>
              <a:t>(</a:t>
            </a:r>
            <a:r>
              <a:rPr lang="zh-TW" altLang="zh-TW" sz="1600" dirty="0"/>
              <a:t>feedback</a:t>
            </a:r>
            <a:r>
              <a:rPr lang="en-US" altLang="zh-TW" sz="1600" dirty="0"/>
              <a:t>)</a:t>
            </a:r>
            <a:r>
              <a:rPr lang="zh-TW" altLang="en-US" sz="1600" dirty="0"/>
              <a:t>機制，對脈衝的反應理論上會無限延續。</a:t>
            </a:r>
            <a:endParaRPr lang="en-US" altLang="zh-TW" sz="1600" dirty="0"/>
          </a:p>
          <a:p>
            <a:pPr lvl="1"/>
            <a:r>
              <a:rPr lang="zh-TW" altLang="en-US" sz="1600" dirty="0"/>
              <a:t>優點</a:t>
            </a:r>
            <a:r>
              <a:rPr lang="en-US" altLang="zh-TW" sz="1600" dirty="0"/>
              <a:t>:</a:t>
            </a:r>
            <a:r>
              <a:rPr lang="zh-TW" altLang="en-US" sz="1600" dirty="0"/>
              <a:t>用極低的計算量就能達到很強的濾波效果</a:t>
            </a:r>
            <a:endParaRPr lang="en-US" altLang="zh-TW" sz="1600" dirty="0"/>
          </a:p>
          <a:p>
            <a:pPr lvl="1"/>
            <a:r>
              <a:rPr lang="zh-TW" altLang="en-US" sz="1600" dirty="0"/>
              <a:t>缺點</a:t>
            </a:r>
            <a:r>
              <a:rPr lang="en-US" altLang="zh-TW" sz="1600" dirty="0"/>
              <a:t>:</a:t>
            </a:r>
            <a:r>
              <a:rPr lang="zh-TW" altLang="en-US" sz="1600" dirty="0"/>
              <a:t>可能會造成相位失真。</a:t>
            </a:r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CE20187-B3CC-2349-98BA-7B6034CC1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26" y="3528525"/>
            <a:ext cx="3949803" cy="3177204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0568C6A-217A-995B-0A7F-3C07D60D6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526246"/>
              </p:ext>
            </p:extLst>
          </p:nvPr>
        </p:nvGraphicFramePr>
        <p:xfrm>
          <a:off x="5346966" y="4300220"/>
          <a:ext cx="6480717" cy="2011680"/>
        </p:xfrm>
        <a:graphic>
          <a:graphicData uri="http://schemas.openxmlformats.org/drawingml/2006/table">
            <a:tbl>
              <a:tblPr/>
              <a:tblGrid>
                <a:gridCol w="1399522">
                  <a:extLst>
                    <a:ext uri="{9D8B030D-6E8A-4147-A177-3AD203B41FA5}">
                      <a16:colId xmlns:a16="http://schemas.microsoft.com/office/drawing/2014/main" val="20677619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926567246"/>
                    </a:ext>
                  </a:extLst>
                </a:gridCol>
                <a:gridCol w="2795195">
                  <a:extLst>
                    <a:ext uri="{9D8B030D-6E8A-4147-A177-3AD203B41FA5}">
                      <a16:colId xmlns:a16="http://schemas.microsoft.com/office/drawing/2014/main" val="1475388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TW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FIR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IIR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114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全名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Finite Impulse Response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Infinite Impulse Response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70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 dirty="0">
                          <a:solidFill>
                            <a:srgbClr val="000000"/>
                          </a:solidFill>
                          <a:effectLst/>
                        </a:rPr>
                        <a:t>Feedback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通常沒有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310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穩定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容易保證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需注意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484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計算量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通常較大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通常較小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7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Linear Phase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>
                          <a:solidFill>
                            <a:srgbClr val="000000"/>
                          </a:solidFill>
                          <a:effectLst/>
                        </a:rPr>
                        <a:t>容易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600" b="0" i="0" dirty="0">
                          <a:solidFill>
                            <a:srgbClr val="000000"/>
                          </a:solidFill>
                          <a:effectLst/>
                        </a:rPr>
                        <a:t>較困難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813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976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RIR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/>
              <a:t>:</a:t>
            </a:r>
            <a:r>
              <a:rPr lang="zh-TW" altLang="en-US" sz="1600" dirty="0"/>
              <a:t>房間脈衝響應</a:t>
            </a:r>
            <a:endParaRPr lang="en-US" altLang="zh-TW" sz="1600" dirty="0"/>
          </a:p>
          <a:p>
            <a:r>
              <a:rPr lang="zh-TW" altLang="en-US" sz="1600" dirty="0"/>
              <a:t>英文</a:t>
            </a:r>
            <a:r>
              <a:rPr lang="en-US" altLang="zh-TW" sz="1600" dirty="0"/>
              <a:t>:Room Impulse Response</a:t>
            </a:r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</a:t>
            </a:r>
            <a:r>
              <a:rPr lang="zh-TW" altLang="en-US" sz="1600" dirty="0"/>
              <a:t>描述一個物理空間（如浴室、音樂廳）對聲音產生的聲學反應（包含殘響與回音）。將乾淨的聲音與 </a:t>
            </a:r>
            <a:r>
              <a:rPr lang="en-US" altLang="zh-TW" sz="1600" dirty="0"/>
              <a:t>RIR </a:t>
            </a:r>
            <a:r>
              <a:rPr lang="zh-TW" altLang="en-US" sz="1600" dirty="0"/>
              <a:t>進行數學運算（卷積），就能精準模擬出該聲音在那個房間裡聽起來的感覺。</a:t>
            </a:r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7D6AFD7-930B-D102-F492-0DE71F243B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976" y="3133164"/>
            <a:ext cx="3569447" cy="34810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63AAFB6-437D-A616-2D2E-6A32CA4ABD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579" y="3133164"/>
            <a:ext cx="1949824" cy="35605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45208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SNR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/>
              <a:t>:</a:t>
            </a:r>
            <a:r>
              <a:rPr lang="zh-TW" altLang="en-US" sz="1600" dirty="0"/>
              <a:t>訊噪比</a:t>
            </a:r>
            <a:endParaRPr lang="en-US" altLang="zh-TW" sz="1600" dirty="0"/>
          </a:p>
          <a:p>
            <a:r>
              <a:rPr lang="zh-TW" altLang="en-US" sz="1600" dirty="0"/>
              <a:t>英文</a:t>
            </a:r>
            <a:r>
              <a:rPr lang="en-US" altLang="zh-TW" sz="1600" dirty="0"/>
              <a:t>: Signal-to-Noise Ratio</a:t>
            </a:r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</a:t>
            </a:r>
          </a:p>
          <a:p>
            <a:pPr lvl="1"/>
            <a:r>
              <a:rPr lang="zh-TW" altLang="en-US" sz="1600" dirty="0"/>
              <a:t>有用的聲音訊號 </a:t>
            </a:r>
            <a:r>
              <a:rPr lang="en-US" altLang="zh-TW" sz="1600" dirty="0"/>
              <a:t>(Signal) </a:t>
            </a:r>
            <a:r>
              <a:rPr lang="zh-TW" altLang="en-US" sz="1600" dirty="0"/>
              <a:t>與無用背景雜訊 </a:t>
            </a:r>
            <a:r>
              <a:rPr lang="en-US" altLang="zh-TW" sz="1600" dirty="0"/>
              <a:t>(Noise) </a:t>
            </a:r>
            <a:r>
              <a:rPr lang="zh-TW" altLang="en-US" sz="1600" dirty="0"/>
              <a:t>的能量比值，單位是分貝 </a:t>
            </a:r>
            <a:r>
              <a:rPr lang="en-US" altLang="zh-TW" sz="1600" dirty="0"/>
              <a:t>(dB)</a:t>
            </a:r>
            <a:r>
              <a:rPr lang="zh-TW" altLang="en-US" sz="1600" dirty="0"/>
              <a:t>。</a:t>
            </a:r>
            <a:r>
              <a:rPr lang="en-US" altLang="zh-TW" sz="1600" dirty="0"/>
              <a:t>SNR </a:t>
            </a:r>
            <a:r>
              <a:rPr lang="zh-TW" altLang="en-US" sz="1600" dirty="0"/>
              <a:t>越高，代表聲音越清晰乾淨。</a:t>
            </a:r>
            <a:r>
              <a:rPr lang="zh-TW" altLang="zh-TW" sz="1600" dirty="0"/>
              <a:t>SNR 越高，一般代表聲音越乾淨。</a:t>
            </a:r>
            <a:endParaRPr lang="en-US" altLang="zh-TW" sz="1600" dirty="0"/>
          </a:p>
          <a:p>
            <a:pPr lvl="1"/>
            <a:r>
              <a:rPr lang="zh-TW" altLang="zh-TW" sz="1600" dirty="0"/>
              <a:t>「我要的訊號」跟「不要的雜訊」相比有多強</a:t>
            </a:r>
            <a:endParaRPr lang="zh-TW" altLang="en-US" sz="1600" dirty="0"/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C4B88B1-C767-1C7C-71F1-BDB00F27A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01294"/>
            <a:ext cx="4166721" cy="17118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3F4AC76-780D-F77C-E369-BD36922E24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10" y="4001294"/>
            <a:ext cx="2914650" cy="1460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9C7F913-E473-B9FB-0BE7-86353FDADD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149" y="3225423"/>
            <a:ext cx="2334390" cy="35510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8603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F0 </a:t>
            </a:r>
            <a:r>
              <a:rPr lang="zh-TW" altLang="en-US" dirty="0"/>
              <a:t>基頻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/>
              <a:t>:</a:t>
            </a:r>
          </a:p>
          <a:p>
            <a:r>
              <a:rPr lang="zh-TW" altLang="en-US" sz="1600" dirty="0"/>
              <a:t>英文</a:t>
            </a:r>
            <a:r>
              <a:rPr lang="en-US" altLang="zh-TW" sz="1600" dirty="0"/>
              <a:t>:Fundamental Frequency</a:t>
            </a:r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</a:t>
            </a:r>
            <a:r>
              <a:rPr lang="zh-TW" altLang="en-US" sz="1600" dirty="0"/>
              <a:t>人聲或樂器發出的週期性聲音中，最</a:t>
            </a:r>
            <a:r>
              <a:rPr lang="zh-TW" altLang="en-US" sz="1600" b="1" dirty="0">
                <a:solidFill>
                  <a:srgbClr val="FF0000"/>
                </a:solidFill>
              </a:rPr>
              <a:t>低</a:t>
            </a:r>
            <a:r>
              <a:rPr lang="zh-TW" altLang="en-US" sz="1600" dirty="0"/>
              <a:t>的那個頻率成分。</a:t>
            </a:r>
            <a:r>
              <a:rPr lang="en-US" altLang="zh-TW" sz="1600" dirty="0"/>
              <a:t>F0 </a:t>
            </a:r>
            <a:r>
              <a:rPr lang="zh-TW" altLang="en-US" sz="1600" dirty="0"/>
              <a:t>決定了我們聽到的「音高 </a:t>
            </a:r>
            <a:r>
              <a:rPr lang="en-US" altLang="zh-TW" sz="1600" dirty="0"/>
              <a:t>(Pitch)</a:t>
            </a:r>
            <a:r>
              <a:rPr lang="zh-TW" altLang="en-US" sz="1600" dirty="0"/>
              <a:t>」。例如男聲 </a:t>
            </a:r>
            <a:r>
              <a:rPr lang="en-US" altLang="zh-TW" sz="1600" dirty="0"/>
              <a:t>F0 </a:t>
            </a:r>
            <a:r>
              <a:rPr lang="zh-TW" altLang="en-US" sz="1600" dirty="0"/>
              <a:t>通常較低，女聲 </a:t>
            </a:r>
            <a:r>
              <a:rPr lang="en-US" altLang="zh-TW" sz="1600" dirty="0"/>
              <a:t>F0 </a:t>
            </a:r>
            <a:r>
              <a:rPr lang="zh-TW" altLang="en-US" sz="1600" dirty="0"/>
              <a:t>通常較高。</a:t>
            </a:r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7A107E9-7015-EE49-9F7F-81FF26D96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806" y="3278395"/>
            <a:ext cx="1864887" cy="35268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C471AB7-60EF-561B-47FC-0348F71C48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493" y="2952507"/>
            <a:ext cx="2568498" cy="38527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F64401A8-E837-AD33-A770-63A7CE9BE0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086" y="2952507"/>
            <a:ext cx="2750572" cy="27011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458F2E5-7F2D-EB4C-EDD2-46EB9281D79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986" y="2952507"/>
            <a:ext cx="2586104" cy="34876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1887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母音</a:t>
            </a:r>
            <a:r>
              <a:rPr lang="en-US" altLang="zh-TW" dirty="0"/>
              <a:t>/ </a:t>
            </a:r>
            <a:r>
              <a:rPr lang="zh-TW" altLang="en-US" dirty="0"/>
              <a:t>子音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/>
              <a:t>:</a:t>
            </a:r>
            <a:r>
              <a:rPr lang="zh-TW" altLang="en-US" sz="1600" dirty="0"/>
              <a:t>母音</a:t>
            </a:r>
            <a:r>
              <a:rPr lang="en-US" altLang="zh-TW" sz="1600" dirty="0"/>
              <a:t>/ </a:t>
            </a:r>
            <a:r>
              <a:rPr lang="zh-TW" altLang="en-US" sz="1600" dirty="0"/>
              <a:t>輔音</a:t>
            </a:r>
            <a:endParaRPr lang="en-US" altLang="zh-TW" sz="1600" dirty="0"/>
          </a:p>
          <a:p>
            <a:r>
              <a:rPr lang="zh-TW" altLang="en-US" sz="1600" dirty="0"/>
              <a:t>英文</a:t>
            </a:r>
            <a:r>
              <a:rPr lang="en-US" altLang="zh-TW" sz="1600" dirty="0"/>
              <a:t>:Vowels / Consonants</a:t>
            </a:r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</a:t>
            </a:r>
          </a:p>
          <a:p>
            <a:pPr lvl="1"/>
            <a:r>
              <a:rPr lang="zh-TW" altLang="en-US" sz="1600" dirty="0"/>
              <a:t>語音學的分類。</a:t>
            </a:r>
            <a:endParaRPr lang="en-US" altLang="zh-TW" sz="1600" dirty="0"/>
          </a:p>
          <a:p>
            <a:pPr lvl="1"/>
            <a:r>
              <a:rPr lang="zh-TW" altLang="en-US" sz="1600" dirty="0"/>
              <a:t>「母音」（如 </a:t>
            </a:r>
            <a:r>
              <a:rPr lang="en-US" altLang="zh-TW" sz="1600" dirty="0"/>
              <a:t>a, e, </a:t>
            </a:r>
            <a:r>
              <a:rPr lang="en-US" altLang="zh-TW" sz="1600" dirty="0" err="1"/>
              <a:t>i</a:t>
            </a:r>
            <a:r>
              <a:rPr lang="en-US" altLang="zh-TW" sz="1600" dirty="0"/>
              <a:t>, o, u</a:t>
            </a:r>
            <a:r>
              <a:rPr lang="zh-TW" altLang="en-US" sz="1600" dirty="0"/>
              <a:t>）發音時氣流在聲道不受阻礙，帶有明顯的週期性與 </a:t>
            </a:r>
            <a:r>
              <a:rPr lang="en-US" altLang="zh-TW" sz="1600" dirty="0"/>
              <a:t>F0</a:t>
            </a:r>
            <a:r>
              <a:rPr lang="zh-TW" altLang="en-US" sz="1600" dirty="0"/>
              <a:t>；</a:t>
            </a:r>
            <a:endParaRPr lang="en-US" altLang="zh-TW" sz="1600" dirty="0"/>
          </a:p>
          <a:p>
            <a:pPr lvl="1"/>
            <a:r>
              <a:rPr lang="zh-TW" altLang="en-US" sz="1600" dirty="0"/>
              <a:t>「子音」（如 </a:t>
            </a:r>
            <a:r>
              <a:rPr lang="en-US" altLang="zh-TW" sz="1600" dirty="0"/>
              <a:t>p, t, k, s</a:t>
            </a:r>
            <a:r>
              <a:rPr lang="zh-TW" altLang="en-US" sz="1600" dirty="0"/>
              <a:t>）發音時氣流會受到嘴唇或舌頭阻礙，頻譜上往往帶有類似摩擦雜訊或爆破的非週期性特徵。</a:t>
            </a:r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F80CD46-32F6-50B4-AE7B-D062B4F5E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498825"/>
              </p:ext>
            </p:extLst>
          </p:nvPr>
        </p:nvGraphicFramePr>
        <p:xfrm>
          <a:off x="1641088" y="4152950"/>
          <a:ext cx="7246434" cy="1645920"/>
        </p:xfrm>
        <a:graphic>
          <a:graphicData uri="http://schemas.openxmlformats.org/drawingml/2006/table">
            <a:tbl>
              <a:tblPr/>
              <a:tblGrid>
                <a:gridCol w="2415478">
                  <a:extLst>
                    <a:ext uri="{9D8B030D-6E8A-4147-A177-3AD203B41FA5}">
                      <a16:colId xmlns:a16="http://schemas.microsoft.com/office/drawing/2014/main" val="4294079046"/>
                    </a:ext>
                  </a:extLst>
                </a:gridCol>
                <a:gridCol w="2415478">
                  <a:extLst>
                    <a:ext uri="{9D8B030D-6E8A-4147-A177-3AD203B41FA5}">
                      <a16:colId xmlns:a16="http://schemas.microsoft.com/office/drawing/2014/main" val="4011800083"/>
                    </a:ext>
                  </a:extLst>
                </a:gridCol>
                <a:gridCol w="2415478">
                  <a:extLst>
                    <a:ext uri="{9D8B030D-6E8A-4147-A177-3AD203B41FA5}">
                      <a16:colId xmlns:a16="http://schemas.microsoft.com/office/drawing/2014/main" val="32487960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TW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 dirty="0">
                          <a:solidFill>
                            <a:srgbClr val="000000"/>
                          </a:solidFill>
                          <a:effectLst/>
                        </a:rPr>
                        <a:t>Vowel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Consonant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762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中文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母音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子音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74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聲音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較持續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常有阻塞/摩擦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458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F0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通常明顯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不一定有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856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頻譜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harmonic structure 明顯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可能較像 noise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966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例子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>
                          <a:solidFill>
                            <a:srgbClr val="000000"/>
                          </a:solidFill>
                          <a:effectLst/>
                        </a:rPr>
                        <a:t>a、i、u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1200" b="0" i="0" dirty="0">
                          <a:solidFill>
                            <a:srgbClr val="000000"/>
                          </a:solidFill>
                          <a:effectLst/>
                        </a:rPr>
                        <a:t>s、p、t、k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442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794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MFCC</a:t>
            </a:r>
            <a:endParaRPr lang="zh-TW" altLang="en-US" dirty="0"/>
          </a:p>
        </p:txBody>
      </p:sp>
      <p:sp>
        <p:nvSpPr>
          <p:cNvPr id="5" name="圓角矩形 4">
            <a:hlinkClick r:id="rId2" action="ppaction://hlinksldjump"/>
          </p:cNvPr>
          <p:cNvSpPr/>
          <p:nvPr/>
        </p:nvSpPr>
        <p:spPr>
          <a:xfrm>
            <a:off x="11519835" y="6606204"/>
            <a:ext cx="615696" cy="199050"/>
          </a:xfrm>
          <a:prstGeom prst="roundRect">
            <a:avLst>
              <a:gd name="adj" fmla="val 50000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中文</a:t>
            </a:r>
            <a:r>
              <a:rPr lang="en-US" altLang="zh-TW" sz="1600" dirty="0"/>
              <a:t>:</a:t>
            </a:r>
            <a:r>
              <a:rPr lang="zh-TW" altLang="en-US" sz="1600" dirty="0"/>
              <a:t>梅爾頻率倒頻譜係數</a:t>
            </a:r>
            <a:endParaRPr lang="en-US" altLang="zh-TW" sz="1600" dirty="0"/>
          </a:p>
          <a:p>
            <a:r>
              <a:rPr lang="zh-TW" altLang="en-US" sz="1600" dirty="0"/>
              <a:t>英文</a:t>
            </a:r>
            <a:r>
              <a:rPr lang="en-US" altLang="zh-TW" sz="1600" dirty="0"/>
              <a:t>:Mel-Frequency </a:t>
            </a:r>
            <a:r>
              <a:rPr lang="en-US" altLang="zh-TW" sz="1600" dirty="0" err="1"/>
              <a:t>Cepstral</a:t>
            </a:r>
            <a:r>
              <a:rPr lang="en-US" altLang="zh-TW" sz="1600" dirty="0"/>
              <a:t> Coefficients</a:t>
            </a:r>
          </a:p>
          <a:p>
            <a:r>
              <a:rPr lang="zh-TW" altLang="en-US" sz="1600" dirty="0"/>
              <a:t>概述</a:t>
            </a:r>
            <a:r>
              <a:rPr lang="en-US" altLang="zh-TW" sz="1600" dirty="0"/>
              <a:t>:</a:t>
            </a:r>
          </a:p>
          <a:p>
            <a:pPr lvl="1"/>
            <a:r>
              <a:rPr lang="zh-TW" altLang="en-US" sz="1600" dirty="0"/>
              <a:t>一種最廣泛用於語音辨識 </a:t>
            </a:r>
            <a:r>
              <a:rPr lang="en-US" altLang="zh-TW" sz="1600" dirty="0"/>
              <a:t>(ASR) </a:t>
            </a:r>
            <a:r>
              <a:rPr lang="zh-TW" altLang="en-US" sz="1600" dirty="0"/>
              <a:t>的聲音特徵。它模仿了「人類耳朵對低頻敏感、對高頻遲鈍」的非線性聽覺特性，將龐大的頻譜資料濃縮成一組極小的係數，專門用來分辨人類說出的語音內容。</a:t>
            </a:r>
            <a:endParaRPr lang="en-US" altLang="zh-TW" sz="1600" dirty="0"/>
          </a:p>
          <a:p>
            <a:pPr lvl="1"/>
            <a:r>
              <a:rPr lang="zh-TW" altLang="zh-TW" sz="1600" dirty="0"/>
              <a:t>這個是 Speech Recognition 最經典的特徵之一。</a:t>
            </a:r>
          </a:p>
          <a:p>
            <a:pPr lvl="1"/>
            <a:r>
              <a:rPr lang="zh-TW" altLang="zh-TW" sz="1600" dirty="0"/>
              <a:t>它不是單一的一個數字。而是一組 coefficients</a:t>
            </a:r>
          </a:p>
          <a:p>
            <a:r>
              <a:rPr lang="zh-TW" altLang="en-US" sz="1600" dirty="0"/>
              <a:t>例子：</a:t>
            </a:r>
            <a:endParaRPr lang="en-US" altLang="zh-TW" sz="16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42414F4-CF42-7C45-5960-DB8A55A0E2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456" y="4234935"/>
            <a:ext cx="2267724" cy="17794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0D6CA5E-A5FD-2743-705B-43EACF90F0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211" y="4014439"/>
            <a:ext cx="1751070" cy="26863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22AD53C1-407B-A1F4-9486-9780B896CCD8}"/>
              </a:ext>
            </a:extLst>
          </p:cNvPr>
          <p:cNvSpPr txBox="1"/>
          <p:nvPr/>
        </p:nvSpPr>
        <p:spPr>
          <a:xfrm>
            <a:off x="6096000" y="3896381"/>
            <a:ext cx="1751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/>
              <a:t>MFCC </a:t>
            </a:r>
            <a:r>
              <a:rPr kumimoji="1" lang="zh-TW" altLang="en-US" sz="1600" dirty="0"/>
              <a:t>流成：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533E227-323C-9B02-DC83-DC3C603A4DDC}"/>
              </a:ext>
            </a:extLst>
          </p:cNvPr>
          <p:cNvSpPr txBox="1"/>
          <p:nvPr/>
        </p:nvSpPr>
        <p:spPr>
          <a:xfrm>
            <a:off x="7370400" y="3626346"/>
            <a:ext cx="206590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Audio</a:t>
            </a:r>
          </a:p>
          <a:p>
            <a:r>
              <a:rPr lang="zh-TW" altLang="en-US" sz="1200" dirty="0"/>
              <a:t> ↓</a:t>
            </a:r>
          </a:p>
          <a:p>
            <a:r>
              <a:rPr lang="zh-TW" altLang="en-US" sz="1200" dirty="0"/>
              <a:t>Frame</a:t>
            </a:r>
          </a:p>
          <a:p>
            <a:r>
              <a:rPr lang="zh-TW" altLang="en-US" sz="1200" dirty="0"/>
              <a:t> ↓</a:t>
            </a:r>
          </a:p>
          <a:p>
            <a:r>
              <a:rPr lang="zh-TW" altLang="en-US" sz="1200" dirty="0"/>
              <a:t>Window</a:t>
            </a:r>
          </a:p>
          <a:p>
            <a:r>
              <a:rPr lang="zh-TW" altLang="en-US" sz="1200" dirty="0"/>
              <a:t> ↓</a:t>
            </a:r>
          </a:p>
          <a:p>
            <a:r>
              <a:rPr lang="zh-TW" altLang="en-US" sz="1200" dirty="0"/>
              <a:t>FFT / STFT</a:t>
            </a:r>
          </a:p>
          <a:p>
            <a:r>
              <a:rPr lang="zh-TW" altLang="en-US" sz="1200" dirty="0"/>
              <a:t> ↓</a:t>
            </a:r>
          </a:p>
          <a:p>
            <a:r>
              <a:rPr lang="zh-TW" altLang="en-US" sz="1200" dirty="0"/>
              <a:t>Magnitude / Power Spectrum</a:t>
            </a:r>
          </a:p>
          <a:p>
            <a:r>
              <a:rPr lang="zh-TW" altLang="en-US" sz="1200" dirty="0"/>
              <a:t> ↓</a:t>
            </a:r>
          </a:p>
          <a:p>
            <a:r>
              <a:rPr lang="zh-TW" altLang="en-US" sz="1200" dirty="0"/>
              <a:t>Mel Filter Bank</a:t>
            </a:r>
          </a:p>
          <a:p>
            <a:r>
              <a:rPr lang="zh-TW" altLang="en-US" sz="1200" dirty="0"/>
              <a:t> ↓</a:t>
            </a:r>
          </a:p>
          <a:p>
            <a:r>
              <a:rPr lang="zh-TW" altLang="en-US" sz="1200" dirty="0"/>
              <a:t>Log</a:t>
            </a:r>
          </a:p>
          <a:p>
            <a:r>
              <a:rPr lang="zh-TW" altLang="en-US" sz="1200" dirty="0"/>
              <a:t> ↓</a:t>
            </a:r>
          </a:p>
          <a:p>
            <a:r>
              <a:rPr lang="zh-TW" altLang="en-US" sz="1200" dirty="0"/>
              <a:t>DCT</a:t>
            </a:r>
          </a:p>
          <a:p>
            <a:r>
              <a:rPr lang="zh-TW" altLang="en-US" sz="1200" dirty="0"/>
              <a:t> ↓</a:t>
            </a:r>
          </a:p>
          <a:p>
            <a:r>
              <a:rPr lang="zh-TW" altLang="en-US" sz="1200" dirty="0"/>
              <a:t>MFCC</a:t>
            </a:r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700D086E-96CF-93E8-3772-158611E61758}"/>
              </a:ext>
            </a:extLst>
          </p:cNvPr>
          <p:cNvCxnSpPr/>
          <p:nvPr/>
        </p:nvCxnSpPr>
        <p:spPr>
          <a:xfrm>
            <a:off x="7907311" y="3755036"/>
            <a:ext cx="31479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圖片 18">
            <a:extLst>
              <a:ext uri="{FF2B5EF4-FFF2-40B4-BE49-F238E27FC236}">
                <a16:creationId xmlns:a16="http://schemas.microsoft.com/office/drawing/2014/main" id="{65FA313D-6B46-0023-491B-6414E4BC12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2990" y="5242165"/>
            <a:ext cx="804928" cy="11544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221E1534-863A-20C9-9517-F6538163A52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662" y="4492770"/>
            <a:ext cx="835285" cy="4945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FD3D10AB-AF49-65A8-76C2-AD97088FA1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274" y="3524087"/>
            <a:ext cx="628692" cy="46189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0C0AF3F6-7AFB-BD27-582A-F7185FA3362A}"/>
              </a:ext>
            </a:extLst>
          </p:cNvPr>
          <p:cNvCxnSpPr>
            <a:cxnSpLocks/>
          </p:cNvCxnSpPr>
          <p:nvPr/>
        </p:nvCxnSpPr>
        <p:spPr>
          <a:xfrm>
            <a:off x="8104681" y="4859311"/>
            <a:ext cx="22610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16FF18DB-3901-4634-2A2A-AB73E056D7A1}"/>
              </a:ext>
            </a:extLst>
          </p:cNvPr>
          <p:cNvCxnSpPr>
            <a:cxnSpLocks/>
          </p:cNvCxnSpPr>
          <p:nvPr/>
        </p:nvCxnSpPr>
        <p:spPr>
          <a:xfrm>
            <a:off x="8421973" y="5603823"/>
            <a:ext cx="22610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EB7E7398-3210-2AB5-126B-472638364DBB}"/>
              </a:ext>
            </a:extLst>
          </p:cNvPr>
          <p:cNvCxnSpPr>
            <a:cxnSpLocks/>
          </p:cNvCxnSpPr>
          <p:nvPr/>
        </p:nvCxnSpPr>
        <p:spPr>
          <a:xfrm>
            <a:off x="7684956" y="5976878"/>
            <a:ext cx="1181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74C2C674-FD45-A85F-3094-B8BB0A4D89D8}"/>
              </a:ext>
            </a:extLst>
          </p:cNvPr>
          <p:cNvCxnSpPr>
            <a:cxnSpLocks/>
          </p:cNvCxnSpPr>
          <p:nvPr/>
        </p:nvCxnSpPr>
        <p:spPr>
          <a:xfrm>
            <a:off x="7722431" y="6331645"/>
            <a:ext cx="1181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圖片 30">
            <a:extLst>
              <a:ext uri="{FF2B5EF4-FFF2-40B4-BE49-F238E27FC236}">
                <a16:creationId xmlns:a16="http://schemas.microsoft.com/office/drawing/2014/main" id="{245F8035-303D-9763-DB3F-ACF7FBA49BB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157" y="6228803"/>
            <a:ext cx="801630" cy="3379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C2A2AB2C-3E70-FB14-751C-8DCF5713594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955" y="5893660"/>
            <a:ext cx="585761" cy="1642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48905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作業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寫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 tool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838200" y="1843913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寫 </a:t>
            </a:r>
            <a:r>
              <a:rPr lang="en-US" altLang="zh-TW" sz="1600" dirty="0"/>
              <a:t>python tool:</a:t>
            </a:r>
          </a:p>
          <a:p>
            <a:r>
              <a:rPr lang="zh-TW" altLang="en-US" sz="1600" dirty="0"/>
              <a:t>      </a:t>
            </a:r>
            <a:r>
              <a:rPr lang="en-US" altLang="zh-TW" sz="1600" dirty="0" smtClean="0"/>
              <a:t>1.</a:t>
            </a:r>
            <a:r>
              <a:rPr lang="zh-TW" altLang="en-US" sz="1600" dirty="0" smtClean="0"/>
              <a:t> 讀</a:t>
            </a:r>
            <a:r>
              <a:rPr lang="zh-TW" altLang="en-US" sz="1600" dirty="0"/>
              <a:t>進一個 </a:t>
            </a:r>
            <a:r>
              <a:rPr lang="en-US" altLang="zh-TW" sz="1600" dirty="0"/>
              <a:t>wav, </a:t>
            </a:r>
            <a:r>
              <a:rPr lang="zh-TW" altLang="en-US" sz="1600" u="sng" dirty="0"/>
              <a:t>經 </a:t>
            </a:r>
            <a:r>
              <a:rPr lang="en-US" altLang="zh-TW" sz="1600" u="sng" dirty="0"/>
              <a:t>STFT </a:t>
            </a:r>
            <a:r>
              <a:rPr lang="zh-TW" altLang="en-US" sz="1600" u="sng" dirty="0"/>
              <a:t>轉到頻率 </a:t>
            </a:r>
            <a:r>
              <a:rPr lang="en-US" altLang="zh-TW" sz="1600" u="sng" dirty="0"/>
              <a:t>domain</a:t>
            </a:r>
            <a:r>
              <a:rPr lang="en-US" altLang="zh-TW" sz="1600" dirty="0"/>
              <a:t>,  </a:t>
            </a:r>
            <a:r>
              <a:rPr lang="zh-TW" altLang="en-US" sz="1600" dirty="0"/>
              <a:t>壓掉 </a:t>
            </a:r>
            <a:r>
              <a:rPr lang="en-US" altLang="zh-TW" sz="1600" dirty="0"/>
              <a:t>100Hz </a:t>
            </a:r>
            <a:r>
              <a:rPr lang="zh-TW" altLang="en-US" sz="1600" dirty="0"/>
              <a:t>以下訊號</a:t>
            </a:r>
            <a:r>
              <a:rPr lang="en-US" altLang="zh-TW" sz="1600" dirty="0"/>
              <a:t>, </a:t>
            </a:r>
            <a:r>
              <a:rPr lang="zh-TW" altLang="en-US" sz="1600" u="sng" dirty="0"/>
              <a:t>再 </a:t>
            </a:r>
            <a:r>
              <a:rPr lang="en-US" altLang="zh-TW" sz="1600" u="sng" dirty="0"/>
              <a:t>ISTFT </a:t>
            </a:r>
            <a:r>
              <a:rPr lang="zh-TW" altLang="en-US" sz="1600" u="sng" dirty="0"/>
              <a:t>轉回來</a:t>
            </a:r>
            <a:r>
              <a:rPr lang="zh-TW" altLang="en-US" sz="1600" dirty="0"/>
              <a:t>輸出成 </a:t>
            </a:r>
            <a:r>
              <a:rPr lang="en-US" altLang="zh-TW" sz="1600" dirty="0"/>
              <a:t>wav</a:t>
            </a:r>
          </a:p>
          <a:p>
            <a:r>
              <a:rPr lang="zh-TW" altLang="en-US" sz="1600" dirty="0"/>
              <a:t>      </a:t>
            </a:r>
            <a:r>
              <a:rPr lang="en-US" altLang="zh-TW" sz="1600" dirty="0" smtClean="0"/>
              <a:t>2.</a:t>
            </a:r>
            <a:r>
              <a:rPr lang="zh-TW" altLang="en-US" sz="1600" dirty="0" smtClean="0"/>
              <a:t> 讀</a:t>
            </a:r>
            <a:r>
              <a:rPr lang="zh-TW" altLang="en-US" sz="1600" dirty="0"/>
              <a:t>進一個 </a:t>
            </a:r>
            <a:r>
              <a:rPr lang="en-US" altLang="zh-TW" sz="1600" dirty="0"/>
              <a:t>wav, </a:t>
            </a:r>
            <a:r>
              <a:rPr lang="zh-TW" altLang="en-US" sz="1600" u="sng" dirty="0"/>
              <a:t>在時軸上過一個 </a:t>
            </a:r>
            <a:r>
              <a:rPr lang="en-US" altLang="zh-TW" sz="1600" u="sng" dirty="0"/>
              <a:t>IIR filter 100Hz HPF</a:t>
            </a:r>
            <a:r>
              <a:rPr lang="en-US" altLang="zh-TW" sz="1600" dirty="0"/>
              <a:t>, </a:t>
            </a:r>
            <a:r>
              <a:rPr lang="zh-TW" altLang="en-US" sz="1600" dirty="0"/>
              <a:t>並輸出成 </a:t>
            </a:r>
            <a:r>
              <a:rPr lang="en-US" altLang="zh-TW" sz="1600" dirty="0"/>
              <a:t>wav</a:t>
            </a:r>
          </a:p>
          <a:p>
            <a:endParaRPr lang="en-US" altLang="zh-TW" sz="1600" dirty="0" smtClean="0"/>
          </a:p>
          <a:p>
            <a:endParaRPr lang="en-US" altLang="zh-TW" sz="1600" dirty="0"/>
          </a:p>
          <a:p>
            <a:r>
              <a:rPr lang="zh-TW" altLang="en-US" sz="1600" dirty="0"/>
              <a:t>用 兩種不同的方法，達成同一件事：把 </a:t>
            </a:r>
            <a:r>
              <a:rPr lang="en-US" altLang="zh-TW" sz="1600" dirty="0"/>
              <a:t>WAV </a:t>
            </a:r>
            <a:r>
              <a:rPr lang="zh-TW" altLang="en-US" sz="1600" dirty="0"/>
              <a:t>音訊中 </a:t>
            </a:r>
            <a:r>
              <a:rPr lang="en-US" altLang="zh-TW" sz="1600" dirty="0"/>
              <a:t>100 Hz </a:t>
            </a:r>
            <a:r>
              <a:rPr lang="zh-TW" altLang="en-US" sz="1600" dirty="0"/>
              <a:t>以下的低頻成分去除或大幅</a:t>
            </a:r>
            <a:r>
              <a:rPr lang="zh-TW" altLang="en-US" sz="1600" dirty="0" smtClean="0"/>
              <a:t>壓低</a:t>
            </a:r>
            <a:endParaRPr lang="en-US" altLang="zh-TW" sz="1600" dirty="0" smtClean="0"/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18710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4776" y="365125"/>
            <a:ext cx="10515600" cy="1325563"/>
          </a:xfrm>
        </p:spPr>
        <p:txBody>
          <a:bodyPr/>
          <a:lstStyle/>
          <a:p>
            <a:r>
              <a:rPr lang="zh-TW" altLang="en-US" dirty="0" smtClean="0"/>
              <a:t>構思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74776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sz="1600" dirty="0" smtClean="0"/>
              <a:t>enroll.wav </a:t>
            </a:r>
            <a:r>
              <a:rPr lang="zh-TW" altLang="en-US" sz="1600" dirty="0" smtClean="0"/>
              <a:t>是 </a:t>
            </a:r>
            <a:r>
              <a:rPr lang="en-US" altLang="zh-TW" sz="1600" dirty="0"/>
              <a:t>WAV </a:t>
            </a:r>
            <a:r>
              <a:rPr lang="zh-TW" altLang="en-US" sz="1600" dirty="0"/>
              <a:t>檔，</a:t>
            </a:r>
            <a:r>
              <a:rPr lang="zh-TW" altLang="en-US" sz="1600" dirty="0" smtClean="0"/>
              <a:t>可直接</a:t>
            </a:r>
            <a:r>
              <a:rPr lang="zh-TW" altLang="en-US" sz="1600" dirty="0"/>
              <a:t>用 </a:t>
            </a:r>
            <a:r>
              <a:rPr lang="en-US" altLang="zh-TW" sz="1600" dirty="0"/>
              <a:t>Python </a:t>
            </a:r>
            <a:r>
              <a:rPr lang="zh-TW" altLang="en-US" sz="1600" dirty="0"/>
              <a:t>處理</a:t>
            </a:r>
            <a:r>
              <a:rPr lang="zh-TW" altLang="en-US" sz="1600" dirty="0" smtClean="0"/>
              <a:t>。</a:t>
            </a:r>
            <a:endParaRPr lang="en-US" altLang="zh-TW" sz="1600" dirty="0" smtClean="0"/>
          </a:p>
          <a:p>
            <a:pPr>
              <a:lnSpc>
                <a:spcPct val="100000"/>
              </a:lnSpc>
            </a:pPr>
            <a:r>
              <a:rPr lang="zh-TW" altLang="en-US" sz="1600" dirty="0" smtClean="0"/>
              <a:t>檔案</a:t>
            </a:r>
            <a:r>
              <a:rPr lang="zh-TW" altLang="en-US" sz="1600" dirty="0"/>
              <a:t>大小約 </a:t>
            </a:r>
            <a:r>
              <a:rPr lang="en-US" altLang="zh-TW" sz="1600" dirty="0"/>
              <a:t>994 </a:t>
            </a:r>
            <a:r>
              <a:rPr lang="en-US" altLang="zh-TW" sz="1600" dirty="0" smtClean="0"/>
              <a:t>KB</a:t>
            </a:r>
          </a:p>
          <a:p>
            <a:pPr>
              <a:lnSpc>
                <a:spcPct val="100000"/>
              </a:lnSpc>
            </a:pPr>
            <a:r>
              <a:rPr lang="zh-TW" altLang="en-US" sz="1600" dirty="0" smtClean="0"/>
              <a:t>看不到取樣</a:t>
            </a:r>
            <a:r>
              <a:rPr lang="zh-TW" altLang="en-US" sz="1600" dirty="0"/>
              <a:t>率 </a:t>
            </a:r>
            <a:r>
              <a:rPr lang="en-US" altLang="zh-TW" sz="1600" dirty="0"/>
              <a:t>Sample Rate</a:t>
            </a:r>
            <a:r>
              <a:rPr lang="zh-TW" altLang="en-US" sz="1600" dirty="0" smtClean="0"/>
              <a:t>（如 </a:t>
            </a:r>
            <a:r>
              <a:rPr lang="en-US" altLang="zh-TW" sz="1600" dirty="0"/>
              <a:t>16000 Hz</a:t>
            </a:r>
            <a:r>
              <a:rPr lang="zh-TW" altLang="en-US" sz="1600" dirty="0"/>
              <a:t>、</a:t>
            </a:r>
            <a:r>
              <a:rPr lang="en-US" altLang="zh-TW" sz="1600" dirty="0"/>
              <a:t>44100 Hz</a:t>
            </a:r>
            <a:r>
              <a:rPr lang="zh-TW" altLang="en-US" sz="1600" dirty="0"/>
              <a:t>、</a:t>
            </a:r>
            <a:r>
              <a:rPr lang="en-US" altLang="zh-TW" sz="1600" dirty="0"/>
              <a:t>48000 Hz</a:t>
            </a:r>
            <a:r>
              <a:rPr lang="zh-TW" altLang="en-US" sz="1600" dirty="0" smtClean="0"/>
              <a:t>）</a:t>
            </a:r>
            <a:endParaRPr lang="en-US" altLang="zh-TW" sz="1600" dirty="0" smtClean="0"/>
          </a:p>
          <a:p>
            <a:pPr lvl="1">
              <a:lnSpc>
                <a:spcPct val="100000"/>
              </a:lnSpc>
            </a:pPr>
            <a:r>
              <a:rPr lang="en-US" altLang="zh-TW" sz="1600" dirty="0" smtClean="0"/>
              <a:t>Python </a:t>
            </a:r>
            <a:r>
              <a:rPr lang="zh-TW" altLang="en-US" sz="1600" dirty="0"/>
              <a:t>讀檔時會直接取得</a:t>
            </a:r>
          </a:p>
          <a:p>
            <a:pPr>
              <a:lnSpc>
                <a:spcPct val="100000"/>
              </a:lnSpc>
            </a:pPr>
            <a:endParaRPr lang="zh-TW" altLang="en-US" sz="16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818" y="2474723"/>
            <a:ext cx="3073558" cy="37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2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比較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765433"/>
              </p:ext>
            </p:extLst>
          </p:nvPr>
        </p:nvGraphicFramePr>
        <p:xfrm>
          <a:off x="838200" y="1391001"/>
          <a:ext cx="10515600" cy="3017520"/>
        </p:xfrm>
        <a:graphic>
          <a:graphicData uri="http://schemas.openxmlformats.org/drawingml/2006/table">
            <a:tbl>
              <a:tblPr/>
              <a:tblGrid>
                <a:gridCol w="1543493">
                  <a:extLst>
                    <a:ext uri="{9D8B030D-6E8A-4147-A177-3AD203B41FA5}">
                      <a16:colId xmlns:a16="http://schemas.microsoft.com/office/drawing/2014/main" val="941264692"/>
                    </a:ext>
                  </a:extLst>
                </a:gridCol>
                <a:gridCol w="3795823">
                  <a:extLst>
                    <a:ext uri="{9D8B030D-6E8A-4147-A177-3AD203B41FA5}">
                      <a16:colId xmlns:a16="http://schemas.microsoft.com/office/drawing/2014/main" val="993490381"/>
                    </a:ext>
                  </a:extLst>
                </a:gridCol>
                <a:gridCol w="5176284">
                  <a:extLst>
                    <a:ext uri="{9D8B030D-6E8A-4147-A177-3AD203B41FA5}">
                      <a16:colId xmlns:a16="http://schemas.microsoft.com/office/drawing/2014/main" val="40693285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TW" alt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STFT </a:t>
                      </a:r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方法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IIR </a:t>
                      </a:r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方法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153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處理 </a:t>
                      </a:r>
                      <a:r>
                        <a:rPr 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2" action="ppaction://hlinksldjump"/>
                        </a:rPr>
                        <a:t>Frequency / Time-Frequency Domain</a:t>
                      </a:r>
                      <a:endParaRPr 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hlinkClick r:id="rId2" action="ppaction://hlinksldjump"/>
                        </a:rPr>
                        <a:t>Time Domain</a:t>
                      </a:r>
                      <a:endParaRPr 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2803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做法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STFT →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修改頻譜 → </a:t>
                      </a:r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ISTFT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直接數位濾波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84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 Hz </a:t>
                      </a:r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以下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可以直接把頻率 </a:t>
                      </a:r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bin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設成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由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HPF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漸進式衰減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075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是否做 </a:t>
                      </a:r>
                      <a:r>
                        <a:rPr 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578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是否做 </a:t>
                      </a:r>
                      <a:r>
                        <a:rPr 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ISTFT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319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Filter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頻率遮罩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IIR HPF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981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最後輸出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WAV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WAV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2357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簡述</a:t>
                      </a:r>
                      <a:endParaRPr lang="zh-TW" altLang="en-US" sz="16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直接去「頻譜」裡把低頻砍掉</a:t>
                      </a:r>
                      <a:endParaRPr 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設計一個濾波器，讓聲音經過濾波器時自動把低頻濾掉</a:t>
                      </a:r>
                      <a:endParaRPr 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19002"/>
                  </a:ext>
                </a:extLst>
              </a:tr>
            </a:tbl>
          </a:graphicData>
        </a:graphic>
      </p:graphicFrame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699" y="365125"/>
            <a:ext cx="2699502" cy="283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144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todo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4152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zh-TW" altLang="en-US" sz="1600" dirty="0" smtClean="0"/>
              <a:t>準備 </a:t>
            </a:r>
            <a:r>
              <a:rPr lang="en-US" altLang="zh-TW" sz="1600" dirty="0" smtClean="0"/>
              <a:t>enroll.wav &gt;&gt;&gt; Python </a:t>
            </a:r>
            <a:r>
              <a:rPr lang="zh-TW" altLang="en-US" sz="1600" dirty="0"/>
              <a:t>用 </a:t>
            </a:r>
            <a:r>
              <a:rPr lang="en-US" altLang="zh-TW" sz="1600" dirty="0" err="1"/>
              <a:t>scipy.io.wavfile.read</a:t>
            </a:r>
            <a:r>
              <a:rPr lang="en-US" altLang="zh-TW" sz="1600" dirty="0"/>
              <a:t>() </a:t>
            </a:r>
            <a:r>
              <a:rPr lang="zh-TW" altLang="en-US" sz="1600" dirty="0" smtClean="0"/>
              <a:t>讀 </a:t>
            </a:r>
            <a:r>
              <a:rPr lang="en-US" altLang="zh-TW" sz="1600" dirty="0" smtClean="0"/>
              <a:t>&gt;&gt;&gt; </a:t>
            </a:r>
            <a:r>
              <a:rPr lang="zh-TW" altLang="en-US" sz="1600" dirty="0" smtClean="0"/>
              <a:t>取得 </a:t>
            </a:r>
            <a:r>
              <a:rPr lang="en-US" altLang="zh-TW" sz="1600" dirty="0"/>
              <a:t>Sample </a:t>
            </a:r>
            <a:r>
              <a:rPr lang="en-US" altLang="zh-TW" sz="1600" dirty="0" smtClean="0"/>
              <a:t>Rate</a:t>
            </a:r>
            <a:endParaRPr lang="zh-TW" altLang="en-US" sz="1600" dirty="0"/>
          </a:p>
          <a:p>
            <a:pPr>
              <a:buFont typeface="+mj-lt"/>
              <a:buAutoNum type="arabicPeriod"/>
            </a:pPr>
            <a:r>
              <a:rPr lang="zh-TW" altLang="en-US" sz="1600" dirty="0"/>
              <a:t>第一</a:t>
            </a:r>
            <a:r>
              <a:rPr lang="zh-TW" altLang="en-US" sz="1600" dirty="0" smtClean="0"/>
              <a:t>題</a:t>
            </a:r>
            <a:endParaRPr lang="en-US" altLang="zh-TW" sz="1600" dirty="0" smtClean="0"/>
          </a:p>
          <a:p>
            <a:pPr lvl="1">
              <a:buFont typeface="+mj-lt"/>
              <a:buAutoNum type="arabicPeriod"/>
            </a:pPr>
            <a:r>
              <a:rPr lang="zh-TW" altLang="en-US" sz="1600" dirty="0" smtClean="0"/>
              <a:t>使用 </a:t>
            </a:r>
            <a:r>
              <a:rPr lang="en-US" altLang="zh-TW" sz="1600" dirty="0" err="1"/>
              <a:t>scipy.signal.stft</a:t>
            </a:r>
            <a:r>
              <a:rPr lang="en-US" altLang="zh-TW" sz="1600" dirty="0"/>
              <a:t>() </a:t>
            </a:r>
            <a:r>
              <a:rPr lang="zh-TW" altLang="en-US" sz="1600" dirty="0"/>
              <a:t>做 </a:t>
            </a:r>
            <a:r>
              <a:rPr lang="en-US" altLang="zh-TW" sz="1600" dirty="0"/>
              <a:t>STFT</a:t>
            </a:r>
            <a:r>
              <a:rPr lang="zh-TW" altLang="en-US" sz="1600" dirty="0"/>
              <a:t>，找到 </a:t>
            </a:r>
            <a:r>
              <a:rPr lang="en-US" altLang="zh-TW" sz="1600" dirty="0"/>
              <a:t>&lt; 100 Hz </a:t>
            </a:r>
            <a:r>
              <a:rPr lang="zh-TW" altLang="en-US" sz="1600" dirty="0"/>
              <a:t>的頻率位置，把對應 </a:t>
            </a:r>
            <a:r>
              <a:rPr lang="en-US" altLang="zh-TW" sz="1600" dirty="0"/>
              <a:t>STFT coefficient </a:t>
            </a:r>
            <a:r>
              <a:rPr lang="zh-TW" altLang="en-US" sz="1600" dirty="0"/>
              <a:t>設為 </a:t>
            </a:r>
            <a:r>
              <a:rPr lang="en-US" altLang="zh-TW" sz="1600" dirty="0" smtClean="0"/>
              <a:t>0</a:t>
            </a:r>
          </a:p>
          <a:p>
            <a:pPr lvl="1">
              <a:buFont typeface="+mj-lt"/>
              <a:buAutoNum type="arabicPeriod"/>
            </a:pPr>
            <a:r>
              <a:rPr lang="zh-TW" altLang="en-US" sz="1600" dirty="0" smtClean="0"/>
              <a:t>再</a:t>
            </a:r>
            <a:r>
              <a:rPr lang="zh-TW" altLang="en-US" sz="1600" dirty="0"/>
              <a:t>使用 </a:t>
            </a:r>
            <a:r>
              <a:rPr lang="en-US" altLang="zh-TW" sz="1600" dirty="0" err="1"/>
              <a:t>scipy.signal.istft</a:t>
            </a:r>
            <a:r>
              <a:rPr lang="en-US" altLang="zh-TW" sz="1600" dirty="0"/>
              <a:t>() </a:t>
            </a:r>
            <a:r>
              <a:rPr lang="zh-TW" altLang="en-US" sz="1600" dirty="0"/>
              <a:t>還原並輸出 </a:t>
            </a:r>
            <a:r>
              <a:rPr lang="en-US" altLang="zh-TW" sz="1600" dirty="0" smtClean="0"/>
              <a:t>enroll_STFT_HPF.wav</a:t>
            </a:r>
            <a:endParaRPr lang="zh-TW" altLang="en-US" sz="1600" dirty="0"/>
          </a:p>
          <a:p>
            <a:pPr>
              <a:buFont typeface="+mj-lt"/>
              <a:buAutoNum type="arabicPeriod"/>
            </a:pPr>
            <a:r>
              <a:rPr lang="zh-TW" altLang="en-US" sz="1600" dirty="0"/>
              <a:t>第二</a:t>
            </a:r>
            <a:r>
              <a:rPr lang="zh-TW" altLang="en-US" sz="1600" dirty="0" smtClean="0"/>
              <a:t>題</a:t>
            </a:r>
            <a:endParaRPr lang="en-US" altLang="zh-TW" sz="1600" dirty="0" smtClean="0"/>
          </a:p>
          <a:p>
            <a:pPr lvl="1">
              <a:buFont typeface="+mj-lt"/>
              <a:buAutoNum type="arabicPeriod"/>
            </a:pPr>
            <a:r>
              <a:rPr lang="zh-TW" altLang="en-US" sz="1600" dirty="0" smtClean="0"/>
              <a:t>使用 </a:t>
            </a:r>
            <a:r>
              <a:rPr lang="en-US" altLang="zh-TW" sz="1600" dirty="0" err="1"/>
              <a:t>scipy.signal.butter</a:t>
            </a:r>
            <a:r>
              <a:rPr lang="en-US" altLang="zh-TW" sz="1600" dirty="0"/>
              <a:t>() </a:t>
            </a:r>
            <a:r>
              <a:rPr lang="zh-TW" altLang="en-US" sz="1600" dirty="0"/>
              <a:t>設計例如 </a:t>
            </a:r>
            <a:r>
              <a:rPr lang="en-US" altLang="zh-TW" sz="1600" dirty="0"/>
              <a:t>4th-order Butterworth 100 Hz High-Pass IIR </a:t>
            </a:r>
            <a:r>
              <a:rPr lang="en-US" altLang="zh-TW" sz="1600" dirty="0" smtClean="0"/>
              <a:t>filter</a:t>
            </a:r>
          </a:p>
          <a:p>
            <a:pPr lvl="1">
              <a:buFont typeface="+mj-lt"/>
              <a:buAutoNum type="arabicPeriod"/>
            </a:pPr>
            <a:r>
              <a:rPr lang="zh-TW" altLang="en-US" sz="1600" dirty="0" smtClean="0"/>
              <a:t>再</a:t>
            </a:r>
            <a:r>
              <a:rPr lang="zh-TW" altLang="en-US" sz="1600" dirty="0"/>
              <a:t>用 </a:t>
            </a:r>
            <a:r>
              <a:rPr lang="en-US" altLang="zh-TW" sz="1600" dirty="0" err="1"/>
              <a:t>scipy.signal.sosfilt</a:t>
            </a:r>
            <a:r>
              <a:rPr lang="en-US" altLang="zh-TW" sz="1600" dirty="0"/>
              <a:t>() </a:t>
            </a:r>
            <a:r>
              <a:rPr lang="zh-TW" altLang="en-US" sz="1600" dirty="0"/>
              <a:t>對原始 </a:t>
            </a:r>
            <a:r>
              <a:rPr lang="en-US" altLang="zh-TW" sz="1600" dirty="0"/>
              <a:t>waveform </a:t>
            </a:r>
            <a:r>
              <a:rPr lang="zh-TW" altLang="en-US" sz="1600" dirty="0"/>
              <a:t>進行濾波，輸出 </a:t>
            </a:r>
            <a:r>
              <a:rPr lang="en-US" altLang="zh-TW" sz="1600" dirty="0"/>
              <a:t>enroll_IIR_HPF.wav</a:t>
            </a:r>
            <a:r>
              <a:rPr lang="zh-TW" altLang="en-US" sz="1600" dirty="0"/>
              <a:t>。</a:t>
            </a:r>
          </a:p>
          <a:p>
            <a:pPr>
              <a:buFont typeface="+mj-lt"/>
              <a:buAutoNum type="arabicPeriod"/>
            </a:pPr>
            <a:r>
              <a:rPr lang="zh-TW" altLang="en-US" sz="1600" dirty="0"/>
              <a:t>最後比較原始音訊與兩個輸出音訊，例如聽聲音，或畫 </a:t>
            </a:r>
            <a:r>
              <a:rPr lang="en-US" altLang="zh-TW" sz="1600" dirty="0"/>
              <a:t>waveform / spectrum</a:t>
            </a:r>
            <a:r>
              <a:rPr lang="zh-TW" altLang="en-US" sz="1600" dirty="0"/>
              <a:t>，看 </a:t>
            </a:r>
            <a:r>
              <a:rPr lang="en-US" altLang="zh-TW" sz="1600" dirty="0"/>
              <a:t>100 Hz </a:t>
            </a:r>
            <a:r>
              <a:rPr lang="zh-TW" altLang="en-US" sz="1600" dirty="0"/>
              <a:t>以下是否被壓</a:t>
            </a:r>
            <a:r>
              <a:rPr lang="zh-TW" altLang="en-US" sz="1600" dirty="0" smtClean="0"/>
              <a:t>掉</a:t>
            </a:r>
            <a:endParaRPr lang="zh-TW" altLang="en-US" sz="1600" dirty="0"/>
          </a:p>
          <a:p>
            <a:pPr>
              <a:buFont typeface="+mj-lt"/>
              <a:buAutoNum type="arabicPeriod"/>
            </a:pPr>
            <a:r>
              <a:rPr lang="zh-TW" altLang="en-US" sz="1600" dirty="0" smtClean="0"/>
              <a:t>資料夾會</a:t>
            </a:r>
            <a:r>
              <a:rPr lang="zh-TW" altLang="en-US" sz="1600" dirty="0"/>
              <a:t>是</a:t>
            </a:r>
            <a:r>
              <a:rPr lang="zh-TW" altLang="en-US" sz="1600" dirty="0" smtClean="0"/>
              <a:t>：</a:t>
            </a:r>
            <a:endParaRPr lang="zh-TW" altLang="en-US" sz="1600" dirty="0"/>
          </a:p>
          <a:p>
            <a:pPr marL="0" indent="0">
              <a:buNone/>
            </a:pPr>
            <a:r>
              <a:rPr lang="zh-TW" altLang="en-US" sz="1600" dirty="0"/>
              <a:t>作業</a:t>
            </a:r>
            <a:r>
              <a:rPr lang="en-US" altLang="zh-TW" sz="1600" dirty="0" smtClean="0"/>
              <a:t>/</a:t>
            </a:r>
            <a:endParaRPr lang="en-US" altLang="zh-TW" sz="1600" dirty="0"/>
          </a:p>
          <a:p>
            <a:pPr marL="0" indent="0">
              <a:buNone/>
            </a:pPr>
            <a:r>
              <a:rPr lang="en-US" altLang="zh-TW" sz="1600" dirty="0"/>
              <a:t>├─ enroll.wav </a:t>
            </a:r>
            <a:endParaRPr lang="en-US" altLang="zh-TW" sz="1600" dirty="0" smtClean="0"/>
          </a:p>
          <a:p>
            <a:pPr marL="0" indent="0">
              <a:buNone/>
            </a:pPr>
            <a:r>
              <a:rPr lang="en-US" altLang="zh-TW" sz="1600" dirty="0" smtClean="0"/>
              <a:t>├─ </a:t>
            </a:r>
            <a:r>
              <a:rPr lang="en-US" altLang="zh-TW" sz="1600" dirty="0"/>
              <a:t>audio_filter.py </a:t>
            </a:r>
            <a:endParaRPr lang="en-US" altLang="zh-TW" sz="1600" dirty="0" smtClean="0"/>
          </a:p>
          <a:p>
            <a:pPr marL="0" indent="0">
              <a:buNone/>
            </a:pPr>
            <a:r>
              <a:rPr lang="en-US" altLang="zh-TW" sz="1600" dirty="0" smtClean="0"/>
              <a:t>├─ </a:t>
            </a:r>
            <a:r>
              <a:rPr lang="en-US" altLang="zh-TW" sz="1600" dirty="0"/>
              <a:t>enroll_STFT_HPF.wav </a:t>
            </a:r>
            <a:endParaRPr lang="en-US" altLang="zh-TW" sz="1600" dirty="0" smtClean="0"/>
          </a:p>
          <a:p>
            <a:pPr marL="0" indent="0">
              <a:buNone/>
            </a:pPr>
            <a:r>
              <a:rPr lang="en-US" altLang="zh-TW" sz="1600" dirty="0" smtClean="0"/>
              <a:t>└─ </a:t>
            </a:r>
            <a:r>
              <a:rPr lang="en-US" altLang="zh-TW" sz="1600" dirty="0"/>
              <a:t>enroll_IIR_HPF.wav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7131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sz="1600" dirty="0" smtClean="0"/>
              <a:t>Q:</a:t>
            </a:r>
            <a:r>
              <a:rPr lang="zh-TW" altLang="en-US" sz="1600" dirty="0"/>
              <a:t>讀進一個 </a:t>
            </a:r>
            <a:r>
              <a:rPr lang="en-US" altLang="zh-TW" sz="1600" dirty="0"/>
              <a:t>wav, </a:t>
            </a:r>
            <a:r>
              <a:rPr lang="zh-TW" altLang="en-US" sz="1600" u="sng" dirty="0"/>
              <a:t>經 </a:t>
            </a:r>
            <a:r>
              <a:rPr lang="en-US" altLang="zh-TW" sz="1600" u="sng" dirty="0"/>
              <a:t>STFT </a:t>
            </a:r>
            <a:r>
              <a:rPr lang="zh-TW" altLang="en-US" sz="1600" u="sng" dirty="0"/>
              <a:t>轉到頻率 </a:t>
            </a:r>
            <a:r>
              <a:rPr lang="en-US" altLang="zh-TW" sz="1600" u="sng" dirty="0"/>
              <a:t>domain</a:t>
            </a:r>
            <a:r>
              <a:rPr lang="en-US" altLang="zh-TW" sz="1600" dirty="0"/>
              <a:t>,  </a:t>
            </a:r>
            <a:r>
              <a:rPr lang="zh-TW" altLang="en-US" sz="1600" dirty="0"/>
              <a:t>壓掉 </a:t>
            </a:r>
            <a:r>
              <a:rPr lang="en-US" altLang="zh-TW" sz="1600" dirty="0"/>
              <a:t>100Hz </a:t>
            </a:r>
            <a:r>
              <a:rPr lang="zh-TW" altLang="en-US" sz="1600" dirty="0"/>
              <a:t>以下訊號</a:t>
            </a:r>
            <a:r>
              <a:rPr lang="en-US" altLang="zh-TW" sz="1600" dirty="0"/>
              <a:t>, </a:t>
            </a:r>
            <a:r>
              <a:rPr lang="zh-TW" altLang="en-US" sz="1600" u="sng" dirty="0"/>
              <a:t>再 </a:t>
            </a:r>
            <a:r>
              <a:rPr lang="en-US" altLang="zh-TW" sz="1600" u="sng" dirty="0"/>
              <a:t>ISTFT </a:t>
            </a:r>
            <a:r>
              <a:rPr lang="zh-TW" altLang="en-US" sz="1600" u="sng" dirty="0"/>
              <a:t>轉回來</a:t>
            </a:r>
            <a:r>
              <a:rPr lang="zh-TW" altLang="en-US" sz="1600" dirty="0"/>
              <a:t>輸出成 </a:t>
            </a:r>
            <a:r>
              <a:rPr lang="en-US" altLang="zh-TW" sz="1600" dirty="0" smtClean="0"/>
              <a:t>wav</a:t>
            </a:r>
          </a:p>
          <a:p>
            <a:pPr lvl="1">
              <a:lnSpc>
                <a:spcPct val="100000"/>
              </a:lnSpc>
            </a:pPr>
            <a:endParaRPr lang="en-US" altLang="zh-TW" sz="1200" dirty="0"/>
          </a:p>
          <a:p>
            <a:pPr>
              <a:lnSpc>
                <a:spcPct val="100000"/>
              </a:lnSpc>
            </a:pPr>
            <a:endParaRPr lang="zh-TW" altLang="en-US" sz="16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440444"/>
              </p:ext>
            </p:extLst>
          </p:nvPr>
        </p:nvGraphicFramePr>
        <p:xfrm>
          <a:off x="838200" y="2447882"/>
          <a:ext cx="5507736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4460">
                  <a:extLst>
                    <a:ext uri="{9D8B030D-6E8A-4147-A177-3AD203B41FA5}">
                      <a16:colId xmlns:a16="http://schemas.microsoft.com/office/drawing/2014/main" val="47666559"/>
                    </a:ext>
                  </a:extLst>
                </a:gridCol>
                <a:gridCol w="2603276">
                  <a:extLst>
                    <a:ext uri="{9D8B030D-6E8A-4147-A177-3AD203B41FA5}">
                      <a16:colId xmlns:a16="http://schemas.microsoft.com/office/drawing/2014/main" val="683321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Flow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skill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3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原始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WAV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19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STFT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因一個聲音不是只有「一張頻譜」，故用此法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026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時頻域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 Frequency Domain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8720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去掉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 Hz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以下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把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 Hz </a:t>
                      </a:r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以下設成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174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ISTFT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267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新的 </a:t>
                      </a:r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WAV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58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37703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6345936" y="2987749"/>
            <a:ext cx="1128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584" y="2181706"/>
            <a:ext cx="2733304" cy="15711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688" y="3887814"/>
            <a:ext cx="1307805" cy="175477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肘形接點 10"/>
          <p:cNvCxnSpPr/>
          <p:nvPr/>
        </p:nvCxnSpPr>
        <p:spPr>
          <a:xfrm>
            <a:off x="6345936" y="3887814"/>
            <a:ext cx="1128752" cy="11201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肘形接點 18"/>
          <p:cNvCxnSpPr/>
          <p:nvPr/>
        </p:nvCxnSpPr>
        <p:spPr>
          <a:xfrm>
            <a:off x="6345936" y="4337649"/>
            <a:ext cx="2503001" cy="1825100"/>
          </a:xfrm>
          <a:prstGeom prst="bentConnector3">
            <a:avLst>
              <a:gd name="adj1" fmla="val 1474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圖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8937" y="5102776"/>
            <a:ext cx="3310640" cy="16054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6779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3763"/>
          </a:xfrm>
        </p:spPr>
        <p:txBody>
          <a:bodyPr>
            <a:noAutofit/>
          </a:bodyPr>
          <a:lstStyle/>
          <a:p>
            <a:pPr>
              <a:lnSpc>
                <a:spcPct val="50000"/>
              </a:lnSpc>
            </a:pPr>
            <a:r>
              <a:rPr lang="zh-TW" altLang="en-US" sz="1000" dirty="0" smtClean="0"/>
              <a:t>驗證</a:t>
            </a:r>
            <a:r>
              <a:rPr lang="en-US" altLang="zh-TW" sz="1000" dirty="0"/>
              <a:t>: </a:t>
            </a:r>
            <a:endParaRPr lang="en-US" altLang="zh-TW" sz="1000" dirty="0" smtClean="0"/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enroll.wav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│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▼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STFT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│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▼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</a:t>
            </a:r>
            <a:r>
              <a:rPr lang="en-US" altLang="zh-TW" sz="1000" dirty="0" err="1"/>
              <a:t>Zxx_before</a:t>
            </a:r>
            <a:endParaRPr lang="en-US" altLang="zh-TW" sz="1000" dirty="0"/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│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▼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f &lt; 100 Hz → 0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│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▼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</a:t>
            </a:r>
            <a:r>
              <a:rPr lang="en-US" altLang="zh-TW" sz="1000" dirty="0" err="1"/>
              <a:t>Zxx_after</a:t>
            </a:r>
            <a:endParaRPr lang="en-US" altLang="zh-TW" sz="1000" dirty="0"/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│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├──→ </a:t>
            </a:r>
            <a:r>
              <a:rPr lang="zh-TW" altLang="en-US" sz="1000" dirty="0"/>
              <a:t>檢查：</a:t>
            </a:r>
            <a:r>
              <a:rPr lang="en-US" altLang="zh-TW" sz="1000" dirty="0"/>
              <a:t>&lt;100 Hz </a:t>
            </a:r>
            <a:r>
              <a:rPr lang="zh-TW" altLang="en-US" sz="1000" dirty="0"/>
              <a:t>是否全部為 </a:t>
            </a:r>
            <a:r>
              <a:rPr lang="en-US" altLang="zh-TW" sz="1000" dirty="0"/>
              <a:t>0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│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├──→ </a:t>
            </a:r>
            <a:r>
              <a:rPr lang="zh-TW" altLang="en-US" sz="1000" dirty="0"/>
              <a:t>畫圖：</a:t>
            </a:r>
            <a:r>
              <a:rPr lang="en-US" altLang="zh-TW" sz="1000" dirty="0"/>
              <a:t>mask </a:t>
            </a:r>
            <a:r>
              <a:rPr lang="zh-TW" altLang="en-US" sz="1000" dirty="0"/>
              <a:t>前 </a:t>
            </a:r>
            <a:r>
              <a:rPr lang="en-US" altLang="zh-TW" sz="1000" dirty="0"/>
              <a:t>vs mask </a:t>
            </a:r>
            <a:r>
              <a:rPr lang="zh-TW" altLang="en-US" sz="1000" dirty="0"/>
              <a:t>後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zh-TW" altLang="en-US" sz="1000" dirty="0"/>
              <a:t>    │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zh-TW" altLang="en-US" sz="1000" dirty="0"/>
              <a:t>    ▼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zh-TW" altLang="en-US" sz="1000" dirty="0"/>
              <a:t>   </a:t>
            </a:r>
            <a:r>
              <a:rPr lang="en-US" altLang="zh-TW" sz="1000" dirty="0"/>
              <a:t>ISTFT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│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▼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</a:t>
            </a:r>
            <a:r>
              <a:rPr lang="en-US" altLang="zh-TW" sz="1000" dirty="0" err="1"/>
              <a:t>y_stft</a:t>
            </a:r>
            <a:endParaRPr lang="en-US" altLang="zh-TW" sz="1000" dirty="0"/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│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    ▼</a:t>
            </a:r>
          </a:p>
          <a:p>
            <a:pPr marL="457200" lvl="1" indent="0">
              <a:lnSpc>
                <a:spcPct val="50000"/>
              </a:lnSpc>
              <a:buNone/>
            </a:pPr>
            <a:r>
              <a:rPr lang="en-US" altLang="zh-TW" sz="1000" dirty="0"/>
              <a:t>enroll_STFT_HPF.wav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09553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600" dirty="0" smtClean="0"/>
              <a:t>Q:</a:t>
            </a:r>
            <a:r>
              <a:rPr lang="zh-TW" altLang="en-US" sz="1600" dirty="0"/>
              <a:t>讀進一個 </a:t>
            </a:r>
            <a:r>
              <a:rPr lang="en-US" altLang="zh-TW" sz="1600" dirty="0"/>
              <a:t>wav, </a:t>
            </a:r>
            <a:r>
              <a:rPr lang="zh-TW" altLang="en-US" sz="1600" u="sng" dirty="0"/>
              <a:t>在時軸上過一個 </a:t>
            </a:r>
            <a:r>
              <a:rPr lang="en-US" altLang="zh-TW" sz="1600" u="sng" dirty="0" smtClean="0">
                <a:hlinkClick r:id="rId2" action="ppaction://hlinksldjump"/>
              </a:rPr>
              <a:t>IIR</a:t>
            </a:r>
            <a:r>
              <a:rPr lang="zh-TW" altLang="en-US" sz="1600" u="sng" dirty="0" smtClean="0"/>
              <a:t> </a:t>
            </a:r>
            <a:r>
              <a:rPr lang="en-US" altLang="zh-TW" sz="1600" u="sng" dirty="0" smtClean="0"/>
              <a:t> </a:t>
            </a:r>
            <a:r>
              <a:rPr lang="en-US" altLang="zh-TW" sz="1600" u="sng" dirty="0">
                <a:hlinkClick r:id="rId3" action="ppaction://hlinksldjump"/>
              </a:rPr>
              <a:t>filter</a:t>
            </a:r>
            <a:r>
              <a:rPr lang="en-US" altLang="zh-TW" sz="1600" u="sng" dirty="0"/>
              <a:t> 100Hz HPF</a:t>
            </a:r>
            <a:r>
              <a:rPr lang="en-US" altLang="zh-TW" sz="1600" dirty="0"/>
              <a:t>, </a:t>
            </a:r>
            <a:r>
              <a:rPr lang="zh-TW" altLang="en-US" sz="1600" dirty="0"/>
              <a:t>並輸出成 </a:t>
            </a:r>
            <a:r>
              <a:rPr lang="en-US" altLang="zh-TW" sz="1600" dirty="0" smtClean="0"/>
              <a:t>wav</a:t>
            </a:r>
          </a:p>
          <a:p>
            <a:pPr lvl="1"/>
            <a:r>
              <a:rPr lang="zh-TW" altLang="en-US" sz="1600" dirty="0"/>
              <a:t>就是直接在 </a:t>
            </a:r>
            <a:r>
              <a:rPr lang="en-US" altLang="zh-TW" sz="1600" dirty="0"/>
              <a:t>Time </a:t>
            </a:r>
            <a:r>
              <a:rPr lang="en-US" altLang="zh-TW" sz="1600" dirty="0" smtClean="0"/>
              <a:t>Domain</a:t>
            </a:r>
            <a:r>
              <a:rPr lang="zh-TW" altLang="en-US" sz="1600" dirty="0" smtClean="0"/>
              <a:t> </a:t>
            </a:r>
            <a:r>
              <a:rPr lang="zh-TW" altLang="en-US" sz="1600" dirty="0"/>
              <a:t>處理</a:t>
            </a:r>
            <a:endParaRPr lang="en-US" altLang="zh-TW" sz="1600" dirty="0"/>
          </a:p>
          <a:p>
            <a:endParaRPr lang="zh-TW" altLang="en-US" sz="16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965" y="3338622"/>
            <a:ext cx="2300613" cy="27323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078" y="3338622"/>
            <a:ext cx="2336103" cy="27323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2343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Run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580" y="3143447"/>
            <a:ext cx="1066949" cy="25721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直線單箭頭接點 7"/>
          <p:cNvCxnSpPr/>
          <p:nvPr/>
        </p:nvCxnSpPr>
        <p:spPr>
          <a:xfrm>
            <a:off x="2913529" y="3272053"/>
            <a:ext cx="6714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8444604" y="3272050"/>
            <a:ext cx="6714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34" y="3024365"/>
            <a:ext cx="1381318" cy="49536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直線單箭頭接點 10"/>
          <p:cNvCxnSpPr/>
          <p:nvPr/>
        </p:nvCxnSpPr>
        <p:spPr>
          <a:xfrm>
            <a:off x="1506071" y="3272051"/>
            <a:ext cx="340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圖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96" y="3157735"/>
            <a:ext cx="895475" cy="2286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矩形 13"/>
          <p:cNvSpPr/>
          <p:nvPr/>
        </p:nvSpPr>
        <p:spPr>
          <a:xfrm>
            <a:off x="5647765" y="5605927"/>
            <a:ext cx="6096000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儲存為無壓縮格式（如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BMP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WAV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）：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6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大小通常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不會改變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。因為這類格式是固定記錄每一個像素或音訊取樣點的資料，只要長寬解析度或時間長度沒變，檔案大小就會維持一致。</a:t>
            </a: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959" y="2097368"/>
            <a:ext cx="4859645" cy="23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162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Check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600" dirty="0" smtClean="0">
                <a:latin typeface="微軟正黑體" panose="020B0604030504040204" pitchFamily="34" charset="-120"/>
              </a:rPr>
              <a:t>用</a:t>
            </a:r>
            <a:r>
              <a:rPr lang="zh-TW" altLang="en-US" sz="1600" dirty="0">
                <a:latin typeface="微軟正黑體" panose="020B0604030504040204" pitchFamily="34" charset="-120"/>
              </a:rPr>
              <a:t>圖驗證 </a:t>
            </a:r>
            <a:r>
              <a:rPr lang="zh-TW" altLang="en-US" sz="1600" dirty="0" smtClean="0">
                <a:latin typeface="微軟正黑體" panose="020B0604030504040204" pitchFamily="34" charset="-120"/>
              </a:rPr>
              <a:t>→</a:t>
            </a:r>
            <a:r>
              <a:rPr lang="zh-TW" altLang="en-US" sz="1600" dirty="0"/>
              <a:t>頻譜圖 </a:t>
            </a:r>
            <a:r>
              <a:rPr lang="en-US" altLang="zh-TW" sz="1600" dirty="0"/>
              <a:t>Spectrum</a:t>
            </a:r>
            <a:endParaRPr lang="en-US" altLang="zh-TW" sz="1600" dirty="0" smtClean="0">
              <a:latin typeface="微軟正黑體" panose="020B0604030504040204" pitchFamily="34" charset="-120"/>
            </a:endParaRPr>
          </a:p>
          <a:p>
            <a:r>
              <a:rPr lang="zh-TW" altLang="en-US" sz="1600" dirty="0" smtClean="0">
                <a:latin typeface="微軟正黑體" panose="020B0604030504040204" pitchFamily="34" charset="-120"/>
              </a:rPr>
              <a:t>把</a:t>
            </a:r>
            <a:r>
              <a:rPr lang="zh-TW" altLang="en-US" sz="1600" dirty="0">
                <a:latin typeface="微軟正黑體" panose="020B0604030504040204" pitchFamily="34" charset="-120"/>
              </a:rPr>
              <a:t>程式改成真正的 </a:t>
            </a:r>
            <a:r>
              <a:rPr lang="en-US" altLang="zh-TW" sz="1600" dirty="0">
                <a:latin typeface="微軟正黑體" panose="020B0604030504040204" pitchFamily="34" charset="-120"/>
              </a:rPr>
              <a:t>Python </a:t>
            </a:r>
            <a:r>
              <a:rPr lang="en-US" altLang="zh-TW" sz="1600" dirty="0" smtClean="0">
                <a:latin typeface="微軟正黑體" panose="020B0604030504040204" pitchFamily="34" charset="-120"/>
              </a:rPr>
              <a:t>tool</a:t>
            </a:r>
            <a:endParaRPr lang="zh-TW" altLang="en-US" sz="1600" dirty="0"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32351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用圖驗證 </a:t>
            </a:r>
            <a:r>
              <a:rPr lang="zh-TW" altLang="en-US" dirty="0" smtClean="0">
                <a:latin typeface="微軟正黑體" panose="020B0604030504040204" pitchFamily="34" charset="-120"/>
              </a:rPr>
              <a:t>→</a:t>
            </a:r>
            <a:r>
              <a:rPr lang="en-US" altLang="zh-TW" dirty="0" smtClean="0"/>
              <a:t>Spectrum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3142129" cy="449838"/>
          </a:xfrm>
        </p:spPr>
        <p:txBody>
          <a:bodyPr>
            <a:normAutofit/>
          </a:bodyPr>
          <a:lstStyle/>
          <a:p>
            <a:r>
              <a:rPr lang="zh-TW" altLang="en-US" sz="1600" dirty="0"/>
              <a:t>做</a:t>
            </a:r>
            <a:r>
              <a:rPr lang="zh-TW" altLang="en-US" sz="1600" dirty="0" smtClean="0"/>
              <a:t>一個</a:t>
            </a:r>
            <a:r>
              <a:rPr lang="en-US" altLang="zh-TW" sz="1600" dirty="0" smtClean="0"/>
              <a:t>:verify_audio.py</a:t>
            </a:r>
            <a:endParaRPr lang="zh-TW" altLang="en-US" sz="16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104" y="2048565"/>
            <a:ext cx="6848179" cy="33317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882" y="1476452"/>
            <a:ext cx="4476401" cy="56340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213832" y="2764157"/>
            <a:ext cx="250155" cy="19005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/>
          <p:nvPr/>
        </p:nvCxnSpPr>
        <p:spPr>
          <a:xfrm>
            <a:off x="5329944" y="4673379"/>
            <a:ext cx="8965" cy="106476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141006" y="5738144"/>
            <a:ext cx="30676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 Spectral Density(dB/Hz) </a:t>
            </a:r>
          </a:p>
          <a:p>
            <a:r>
              <a:rPr lang="zh-TW" altLang="en-US" sz="16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注意，是 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dB scale</a:t>
            </a:r>
            <a:endParaRPr lang="en-US" altLang="zh-TW" sz="16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488" y="5501774"/>
            <a:ext cx="908697" cy="130317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5" name="矩形 14"/>
          <p:cNvSpPr/>
          <p:nvPr/>
        </p:nvSpPr>
        <p:spPr>
          <a:xfrm>
            <a:off x="112726" y="2085454"/>
            <a:ext cx="5006637" cy="32316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頻譜比較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—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— 實際過濾的成果對比</a:t>
            </a:r>
          </a:p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這張圖展示了一段實際的聲音訊號，在套用濾波器「之前」與「之後」的能量變化：</a:t>
            </a:r>
          </a:p>
          <a:p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綠色虛線 (Original)：這是還沒處理過的原始聲音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，可以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看到在 100 Hz 左側的低頻區域，它帶有很高的能量（數值偏高）。</a:t>
            </a:r>
          </a:p>
          <a:p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橘線 (IIR HPF) 與 藍線 (STFT HPF)：這是原始聲音分別經過兩種不同技術的「100 Hz 高通濾波器」處理後的結果。</a:t>
            </a:r>
          </a:p>
          <a:p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實際效果觀察：</a:t>
            </a:r>
          </a:p>
          <a:p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 100 Hz 右側（高頻區）：</a:t>
            </a: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綠、橘、藍三條線幾乎重疊，證明高頻聲音被完整</a:t>
            </a:r>
            <a:r>
              <a:rPr lang="zh-TW" altLang="en-US" sz="12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保留</a:t>
            </a:r>
            <a:endParaRPr lang="zh-TW" altLang="en-US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 100 Hz 左側（低頻區）：橘線和藍線都大幅低於綠色虛線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。證明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這兩種濾波器都成功發揮了作用，將原本存在的低頻噪音（或訊號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）消除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68126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畫 </a:t>
            </a:r>
            <a:r>
              <a:rPr lang="en-US" altLang="zh-TW" dirty="0"/>
              <a:t>IIR Filter </a:t>
            </a:r>
            <a:r>
              <a:rPr lang="zh-TW" altLang="en-US" dirty="0"/>
              <a:t>本身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810" y="2143261"/>
            <a:ext cx="6549367" cy="375112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16166"/>
            <a:ext cx="2173333" cy="224183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7" name="矩形 6"/>
          <p:cNvSpPr/>
          <p:nvPr/>
        </p:nvSpPr>
        <p:spPr>
          <a:xfrm>
            <a:off x="80681" y="1468398"/>
            <a:ext cx="5047129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頻率響應</a:t>
            </a:r>
            <a:r>
              <a:rPr lang="zh-TW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圖—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— 濾波器的設計圖</a:t>
            </a:r>
          </a:p>
          <a:p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 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IIR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高通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濾波器 的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理論運作規則：</a:t>
            </a:r>
          </a:p>
          <a:p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 (頻率) 與 Y 軸 (增益 dB)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：顯示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不同頻率的聲音通過這個濾波器時，音量會被放大或縮小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多少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 Hz Cutoff (截止頻率)：這是一道分水嶺（垂直虛線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右側 (大於 100 Hz)：</a:t>
            </a: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藍色實線貼近 0 dB，代表 100 Hz 以上的聲音可以毫髮無傷地通過，音量不變</a:t>
            </a:r>
            <a:r>
              <a:rPr lang="zh-TW" altLang="en-US" sz="1200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左側 (小於 100 Hz)：藍色實線往左下方急遽下墜，代表低頻率的聲音會被大幅度削減音量（衰減）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交叉點 (-3 dB)：在剛好 100 Hz 的地方，音量會下降 3 dB（即能量減半），這是標準濾波器設計的特性。</a:t>
            </a:r>
          </a:p>
        </p:txBody>
      </p:sp>
    </p:spTree>
    <p:extLst>
      <p:ext uri="{BB962C8B-B14F-4D97-AF65-F5344CB8AC3E}">
        <p14:creationId xmlns:p14="http://schemas.microsoft.com/office/powerpoint/2010/main" val="29320112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Learn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425388" y="1690688"/>
            <a:ext cx="1228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第一題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387" y="2029242"/>
            <a:ext cx="3733723" cy="3788852"/>
          </a:xfrm>
          <a:prstGeom prst="rect">
            <a:avLst/>
          </a:prstGeom>
        </p:spPr>
      </p:pic>
      <p:sp>
        <p:nvSpPr>
          <p:cNvPr id="8" name="右大括弧 7"/>
          <p:cNvSpPr/>
          <p:nvPr/>
        </p:nvSpPr>
        <p:spPr>
          <a:xfrm>
            <a:off x="5159110" y="2029242"/>
            <a:ext cx="246608" cy="1162193"/>
          </a:xfrm>
          <a:prstGeom prst="rightBrace">
            <a:avLst>
              <a:gd name="adj1" fmla="val 117818"/>
              <a:gd name="adj2" fmla="val 50000"/>
            </a:avLst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513059" y="237969"/>
            <a:ext cx="337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frequency </a:t>
            </a:r>
            <a:r>
              <a:rPr lang="en-US" altLang="zh-TW" dirty="0" smtClean="0"/>
              <a:t>resolution</a:t>
            </a:r>
            <a:r>
              <a:rPr lang="zh-TW" altLang="en-US" dirty="0" smtClean="0"/>
              <a:t> 計算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992" y="677462"/>
            <a:ext cx="2855907" cy="27795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992" y="3690282"/>
            <a:ext cx="1516115" cy="27473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6107" y="3690282"/>
            <a:ext cx="1729583" cy="23611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151212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 smtClean="0"/>
              <a:t>Learn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425388" y="1690688"/>
            <a:ext cx="1228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題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22" y="180479"/>
            <a:ext cx="2079813" cy="2722968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822" y="2903447"/>
            <a:ext cx="1550895" cy="313190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822" y="6035351"/>
            <a:ext cx="962486" cy="76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60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4336</Words>
  <Application>Microsoft Office PowerPoint</Application>
  <PresentationFormat>寬螢幕</PresentationFormat>
  <Paragraphs>453</Paragraphs>
  <Slides>39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48" baseType="lpstr">
      <vt:lpstr>-webkit-standard</vt:lpstr>
      <vt:lpstr>微軟正黑體</vt:lpstr>
      <vt:lpstr>新細明體</vt:lpstr>
      <vt:lpstr>Arial</vt:lpstr>
      <vt:lpstr>Calibri</vt:lpstr>
      <vt:lpstr>Calibri Light</vt:lpstr>
      <vt:lpstr>Cambria Math</vt:lpstr>
      <vt:lpstr>Wingdings</vt:lpstr>
      <vt:lpstr>Office 佈景主題</vt:lpstr>
      <vt:lpstr>Week 1 note</vt:lpstr>
      <vt:lpstr>To do list</vt:lpstr>
      <vt:lpstr>專有名詞___分類</vt:lpstr>
      <vt:lpstr>名詞___分類</vt:lpstr>
      <vt:lpstr>Q:待學習</vt:lpstr>
      <vt:lpstr>PowerPoint 簡報</vt:lpstr>
      <vt:lpstr>PowerPoint 簡報</vt:lpstr>
      <vt:lpstr>專有名詞___流程</vt:lpstr>
      <vt:lpstr>Sampling rate</vt:lpstr>
      <vt:lpstr>SR &amp; OSR</vt:lpstr>
      <vt:lpstr>另一個 SR &amp; OSR </vt:lpstr>
      <vt:lpstr>bit depth</vt:lpstr>
      <vt:lpstr>channel</vt:lpstr>
      <vt:lpstr>wav format</vt:lpstr>
      <vt:lpstr>Spectrum</vt:lpstr>
      <vt:lpstr>STFT</vt:lpstr>
      <vt:lpstr>Magnitude</vt:lpstr>
      <vt:lpstr>Phase</vt:lpstr>
      <vt:lpstr>Filter</vt:lpstr>
      <vt:lpstr>FIR</vt:lpstr>
      <vt:lpstr>IIR</vt:lpstr>
      <vt:lpstr>RIR</vt:lpstr>
      <vt:lpstr>SNR</vt:lpstr>
      <vt:lpstr>F0 基頻</vt:lpstr>
      <vt:lpstr>母音/ 子音</vt:lpstr>
      <vt:lpstr>MFCC</vt:lpstr>
      <vt:lpstr>作業:寫 python tool</vt:lpstr>
      <vt:lpstr>構思</vt:lpstr>
      <vt:lpstr>比較</vt:lpstr>
      <vt:lpstr>todo</vt:lpstr>
      <vt:lpstr>1. </vt:lpstr>
      <vt:lpstr>PowerPoint 簡報</vt:lpstr>
      <vt:lpstr>2. </vt:lpstr>
      <vt:lpstr>Run</vt:lpstr>
      <vt:lpstr>Check</vt:lpstr>
      <vt:lpstr>用圖驗證 →Spectrum</vt:lpstr>
      <vt:lpstr>畫 IIR Filter 本身</vt:lpstr>
      <vt:lpstr>Learn</vt:lpstr>
      <vt:lpstr>Learn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Amy.Cheng</dc:creator>
  <cp:lastModifiedBy>Amy.Cheng</cp:lastModifiedBy>
  <cp:revision>44</cp:revision>
  <dcterms:created xsi:type="dcterms:W3CDTF">2026-09-01T07:43:44Z</dcterms:created>
  <dcterms:modified xsi:type="dcterms:W3CDTF">2026-09-02T10:17:39Z</dcterms:modified>
</cp:coreProperties>
</file>